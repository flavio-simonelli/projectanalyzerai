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0" r:id="rId6"/>
    <p:sldId id="260" r:id="rId7"/>
    <p:sldId id="262" r:id="rId8"/>
    <p:sldId id="271" r:id="rId9"/>
    <p:sldId id="261" r:id="rId10"/>
    <p:sldId id="263" r:id="rId11"/>
    <p:sldId id="272" r:id="rId12"/>
    <p:sldId id="269" r:id="rId13"/>
    <p:sldId id="264" r:id="rId14"/>
    <p:sldId id="274" r:id="rId15"/>
    <p:sldId id="275" r:id="rId16"/>
    <p:sldId id="265" r:id="rId17"/>
    <p:sldId id="276" r:id="rId18"/>
    <p:sldId id="277" r:id="rId19"/>
    <p:sldId id="266" r:id="rId20"/>
    <p:sldId id="267" r:id="rId21"/>
    <p:sldId id="268" r:id="rId22"/>
    <p:sldId id="273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A3B59-890C-491A-B1F1-1E563646AD16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9F79D-ED6F-4F0D-8357-0E0D88295E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543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9F79D-ED6F-4F0D-8357-0E0D88295E7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11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BF0693-C444-18C0-9B2B-E53D53EB8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30173FA-BC93-8709-C598-DE630E2EC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04CE1B-58ED-39C4-F3DB-758398EE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C7914E-C792-C25C-B868-0322F3E4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4CB395-46D8-8E6C-BE66-8D1A4D0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25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C0849-690B-CACF-9F85-A7EB3E35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0645E4-344F-B9C3-C83E-A7956B67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DCAC33-8288-5B1D-CA39-4D53AEEB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09C875-FFB8-78E5-11D9-D99208E3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22E40E-535B-AB76-D0AE-CDB47F47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2BB21D5-2A3D-988A-2C9D-0F1EEA314E68}"/>
              </a:ext>
            </a:extLst>
          </p:cNvPr>
          <p:cNvSpPr txBox="1"/>
          <p:nvPr userDrawn="1"/>
        </p:nvSpPr>
        <p:spPr>
          <a:xfrm>
            <a:off x="3508935" y="45522"/>
            <a:ext cx="525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MS PGothic" panose="020B0600070205080204" pitchFamily="34" charset="-128"/>
                <a:ea typeface="MS PGothic" panose="020B0600070205080204" pitchFamily="34" charset="-128"/>
              </a:rPr>
              <a:t>01 Intro | 02 Metodologia | 03 Risultati | 04 Roadmap</a:t>
            </a:r>
          </a:p>
        </p:txBody>
      </p:sp>
    </p:spTree>
    <p:extLst>
      <p:ext uri="{BB962C8B-B14F-4D97-AF65-F5344CB8AC3E}">
        <p14:creationId xmlns:p14="http://schemas.microsoft.com/office/powerpoint/2010/main" val="174011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91325-21D8-8723-F829-DF0AB8FE0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10C1C1-5A5E-AA18-EAA9-F0637E8DA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53146A-7BB6-8FEB-B3BA-F9CA65DB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E77C9B-C1FD-DF2B-5B9C-E1608541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FD44C2-B9F7-C04F-AA40-C7937D81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342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C78D2E-6909-F1BC-610A-167C7B4A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245995-3429-B970-15E5-F024928E1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DCCC39-BDEB-50C2-55AE-350F27A4B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AF24E-31D3-F274-673D-60FA0286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91A97C2-13DA-D63D-E0F3-76AEE276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A0256A5-9B98-9143-048C-3BE44652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437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41A252-95B5-448A-E162-D42BA7B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29A40A-E172-DFFB-757A-B80ECDF50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3C47F3B-4826-E69A-B091-3A23310C8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A6182B8-2673-8ECC-4333-50C4B2154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074024D-A3FE-96A4-8138-FCC048954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817C900-084E-2420-C131-457E1F1D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B93A2F6-4DD1-A6F8-3DEB-7C85B2CE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27CD06D-9D9A-D83D-194E-A6F84112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813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491836-AAFE-B244-4AAC-87420623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6B0D15-42A2-12BA-7A52-AA5F900B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F64DE6C-4D92-1094-F8DE-52445348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C60BF7-AFF0-1916-3159-385B3F35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769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44B1BE-111E-FEF1-BA01-B89AADCD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2466BFC-D986-2012-C83F-AB00A017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4FDC05-684D-ED52-FF3B-54339819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285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4B5A99-A4E7-EC3F-0B4C-8DBCA2B1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E1BFCD-455B-0B6B-04AB-64BA0BDFA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6DE6BDF-F910-B8B0-AF31-107125F73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FBCDFC-6316-14B8-AE37-9E06AFE9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16B4E3-96D8-5B4A-CC53-967272C7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CFF140-428C-DBF9-291C-5D9E3352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813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D7EA66-8226-FCA7-6A52-159CD2AC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7810C1F-807E-5CB1-8CE8-3D0A075B6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0AD7B5-5B69-7CF8-0455-71C9057CA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DE2D98-8AB4-0C02-75DC-224A42B9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FF6B31-A62E-060C-3268-F82508F9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C96A84-4AF7-A2DD-E0A2-CFC1C2B2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585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F5752F-B0BE-0CBC-666E-2762F142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5CCB98-26EA-2DCB-ACA9-5F1E5AE45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398B16-CF09-E92F-06CA-AE30E5E3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EA887F-E758-1E3D-5985-838B6E29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3F3CF8-790F-3672-E9C0-539B6CD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7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EB625C9-F204-2DF9-C767-C1389ADF3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A4DD240-8204-3F22-DA41-055A44BA0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1932B4-A419-3DC3-774E-17416C43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F2242D-A7D8-193D-35C3-408D1BF2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3D910A-CE94-6AC8-FD31-7EB56D07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D9A1-C17B-4420-8B17-8055BD7357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1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BCAE7B8-8D42-4CAB-FE1A-14CDE798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65E9A49-E6E4-2D1C-10C3-D3908B9E7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CB2543-EC30-8450-ABAA-2F54EF5E2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CBF43-DCE3-472F-A662-F9C5FEC6D554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74E603-CA50-7878-B489-B79930F28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 dirty="0"/>
              <a:t>Flavio Simonelli - 0365333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74E37E-3B6D-5463-53D3-BED089FF8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8D9A1-C17B-4420-8B17-8055BD735727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544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9545DB-9246-F745-2D2F-891E7615A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8546"/>
            <a:ext cx="9144000" cy="2387600"/>
          </a:xfrm>
        </p:spPr>
        <p:txBody>
          <a:bodyPr/>
          <a:lstStyle/>
          <a:p>
            <a:pPr algn="l"/>
            <a:r>
              <a:rPr lang="it-IT" b="1" dirty="0" err="1"/>
              <a:t>Predicting</a:t>
            </a:r>
            <a:r>
              <a:rPr lang="it-IT" b="1" dirty="0"/>
              <a:t> </a:t>
            </a:r>
            <a:r>
              <a:rPr lang="it-IT" b="1" dirty="0" err="1"/>
              <a:t>Defects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the Method Level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65F9F6C-068D-55B6-2D03-5F9254AD6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3254"/>
            <a:ext cx="9144000" cy="1655762"/>
          </a:xfrm>
        </p:spPr>
        <p:txBody>
          <a:bodyPr/>
          <a:lstStyle/>
          <a:p>
            <a:pPr algn="l"/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A Machine Learning &amp; ’’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What-If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’’ Analysis of Apache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Bookkeeper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&amp;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OpenJPA</a:t>
            </a:r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0D05B2E-FEE1-AC5C-EFEA-9088234BCAC5}"/>
              </a:ext>
            </a:extLst>
          </p:cNvPr>
          <p:cNvSpPr txBox="1"/>
          <p:nvPr/>
        </p:nvSpPr>
        <p:spPr>
          <a:xfrm>
            <a:off x="1479550" y="5721350"/>
            <a:ext cx="288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Analysis by Flavio Simonelli</a:t>
            </a:r>
          </a:p>
        </p:txBody>
      </p:sp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1FFBEC2E-AA44-9519-ABC4-D8C85BB1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215" y="148545"/>
            <a:ext cx="4474983" cy="106589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3A36636-5D5F-693B-6B7C-24A36955A570}"/>
              </a:ext>
            </a:extLst>
          </p:cNvPr>
          <p:cNvSpPr txBox="1"/>
          <p:nvPr/>
        </p:nvSpPr>
        <p:spPr>
          <a:xfrm>
            <a:off x="7740650" y="5721350"/>
            <a:ext cx="293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Ingegneria del Software 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635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36A46-024D-058A-DD1B-268E9C60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84E9BF-2368-92F2-BF26-A0A602D9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dirty="0"/>
              <a:t>Introduzione</a:t>
            </a:r>
          </a:p>
          <a:p>
            <a:pPr lvl="1"/>
            <a:r>
              <a:rPr lang="it-IT" dirty="0"/>
              <a:t>Il problema della manutenibilità</a:t>
            </a:r>
          </a:p>
          <a:p>
            <a:pPr lvl="1"/>
            <a:r>
              <a:rPr lang="it-IT" dirty="0"/>
              <a:t>Le domande di ricerca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Metodologia</a:t>
            </a:r>
          </a:p>
          <a:p>
            <a:pPr lvl="1"/>
            <a:r>
              <a:rPr lang="it-IT" dirty="0"/>
              <a:t>Creazione dei Dataset</a:t>
            </a:r>
          </a:p>
          <a:p>
            <a:pPr lvl="1"/>
            <a:r>
              <a:rPr lang="it-IT" dirty="0"/>
              <a:t>Addestramento e Inferenza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Risultati e Analisi</a:t>
            </a:r>
          </a:p>
          <a:p>
            <a:pPr lvl="1"/>
            <a:r>
              <a:rPr lang="it-IT" dirty="0"/>
              <a:t>Confronto dei modelli predittivi</a:t>
            </a:r>
          </a:p>
          <a:p>
            <a:pPr lvl="1"/>
            <a:r>
              <a:rPr lang="it-IT" dirty="0" err="1"/>
              <a:t>Refactoring</a:t>
            </a:r>
            <a:r>
              <a:rPr lang="it-IT" dirty="0"/>
              <a:t> guidato dai dati</a:t>
            </a:r>
          </a:p>
          <a:p>
            <a:pPr lvl="1"/>
            <a:r>
              <a:rPr lang="it-IT" dirty="0"/>
              <a:t>Analisi ‘‘</a:t>
            </a:r>
            <a:r>
              <a:rPr lang="it-IT" dirty="0" err="1"/>
              <a:t>What-If</a:t>
            </a:r>
            <a:r>
              <a:rPr lang="it-IT" dirty="0"/>
              <a:t>’’ no </a:t>
            </a:r>
            <a:r>
              <a:rPr lang="it-IT" dirty="0" err="1"/>
              <a:t>smells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it-IT" dirty="0" err="1"/>
              <a:t>RoadMap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121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24AF0-A744-3F8F-9BD5-D8B0A512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625"/>
          </a:xfrm>
        </p:spPr>
        <p:txBody>
          <a:bodyPr/>
          <a:lstStyle/>
          <a:p>
            <a:r>
              <a:rPr lang="it-IT" dirty="0"/>
              <a:t>Debito Tecnico e Granularità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D10204-EBE9-17C9-4928-31E98214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1"/>
            <a:ext cx="5118100" cy="3340100"/>
          </a:xfrm>
          <a:solidFill>
            <a:schemeClr val="bg2">
              <a:lumMod val="90000"/>
            </a:schemeClr>
          </a:solidFill>
          <a:ln w="38100" cap="rnd" cmpd="sng">
            <a:solidFill>
              <a:schemeClr val="bg2">
                <a:lumMod val="50000"/>
              </a:schemeClr>
            </a:solidFill>
            <a:beve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pPr marL="0" indent="0">
              <a:buNone/>
            </a:pPr>
            <a:r>
              <a:rPr lang="it-IT" sz="2500" dirty="0"/>
              <a:t>Analisi a Livello di metodo o classe</a:t>
            </a:r>
          </a:p>
          <a:p>
            <a:r>
              <a:rPr lang="it-IT" sz="2500" dirty="0"/>
              <a:t>Troppo rumore: </a:t>
            </a:r>
            <a:r>
              <a:rPr lang="it-IT" sz="2400" dirty="0"/>
              <a:t>I modelli classici identificano interi moduli come "rischiosi".</a:t>
            </a:r>
          </a:p>
          <a:p>
            <a:r>
              <a:rPr lang="it-IT" sz="2400" dirty="0"/>
              <a:t>Mancanza di Precisione</a:t>
            </a:r>
          </a:p>
          <a:p>
            <a:r>
              <a:rPr lang="it-IT" sz="2400" dirty="0"/>
              <a:t>Incertezza: Dove devo fare </a:t>
            </a:r>
            <a:r>
              <a:rPr lang="it-IT" sz="2400" dirty="0" err="1"/>
              <a:t>refactoring</a:t>
            </a:r>
            <a:r>
              <a:rPr lang="it-IT" sz="2400" dirty="0"/>
              <a:t> esattamente?</a:t>
            </a:r>
            <a:endParaRPr lang="it-IT" sz="2500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C5C839A7-20B7-6D3E-E8FF-83DCD7209CDF}"/>
              </a:ext>
            </a:extLst>
          </p:cNvPr>
          <p:cNvSpPr txBox="1">
            <a:spLocks/>
          </p:cNvSpPr>
          <p:nvPr/>
        </p:nvSpPr>
        <p:spPr>
          <a:xfrm>
            <a:off x="6369050" y="1371602"/>
            <a:ext cx="5029200" cy="33401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 cap="rnd">
            <a:solidFill>
              <a:schemeClr val="accent3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Analisi a Livello di Metodo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Granularità fine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Massimizzazione del ROI (Return on </a:t>
            </a:r>
            <a:r>
              <a:rPr lang="it-IT" dirty="0" err="1"/>
              <a:t>Investiment</a:t>
            </a:r>
            <a:r>
              <a:rPr lang="it-IT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246B974-BEF2-149E-0B0C-3EAB72888DEE}"/>
              </a:ext>
            </a:extLst>
          </p:cNvPr>
          <p:cNvSpPr txBox="1"/>
          <p:nvPr/>
        </p:nvSpPr>
        <p:spPr>
          <a:xfrm>
            <a:off x="457200" y="4978400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"Non possiamo gestire ciò che non misuriamo con precisione"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7B7D07-1FC7-96C0-4577-C1CAB9C2EBF1}"/>
              </a:ext>
            </a:extLst>
          </p:cNvPr>
          <p:cNvSpPr txBox="1"/>
          <p:nvPr/>
        </p:nvSpPr>
        <p:spPr>
          <a:xfrm>
            <a:off x="6527800" y="5092997"/>
            <a:ext cx="482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Method: </a:t>
            </a:r>
            <a:r>
              <a:rPr lang="it-IT" dirty="0" err="1"/>
              <a:t>LedgerHandle.addEntry</a:t>
            </a:r>
            <a:r>
              <a:rPr lang="it-IT" dirty="0"/>
              <a:t>() </a:t>
            </a:r>
          </a:p>
          <a:p>
            <a:r>
              <a:rPr lang="it-IT" dirty="0" err="1"/>
              <a:t>Metrics</a:t>
            </a:r>
            <a:r>
              <a:rPr lang="it-IT" dirty="0"/>
              <a:t>: { LOC: 142, </a:t>
            </a:r>
            <a:r>
              <a:rPr lang="it-IT" dirty="0" err="1"/>
              <a:t>NSmell</a:t>
            </a:r>
            <a:r>
              <a:rPr lang="it-IT" dirty="0"/>
              <a:t>: 3, </a:t>
            </a:r>
            <a:r>
              <a:rPr lang="it-IT" dirty="0" err="1"/>
              <a:t>Churn</a:t>
            </a:r>
            <a:r>
              <a:rPr lang="it-IT" dirty="0"/>
              <a:t>: 12 }</a:t>
            </a:r>
          </a:p>
          <a:p>
            <a:r>
              <a:rPr lang="it-IT" dirty="0" err="1"/>
              <a:t>Prediction</a:t>
            </a:r>
            <a:r>
              <a:rPr lang="it-IT" dirty="0"/>
              <a:t>: HIGH RISK (82%)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0A44DC7-C3A6-4C3C-EC28-B4E931611BB3}"/>
              </a:ext>
            </a:extLst>
          </p:cNvPr>
          <p:cNvCxnSpPr>
            <a:cxnSpLocks/>
          </p:cNvCxnSpPr>
          <p:nvPr/>
        </p:nvCxnSpPr>
        <p:spPr>
          <a:xfrm>
            <a:off x="5981700" y="1245704"/>
            <a:ext cx="0" cy="510871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2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6EA956-B820-CB94-D575-19C9AC58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domande di ricerca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52CEAC-D837-5C1D-D720-7C3CFFB26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RQ1 (Valutazione dei Predittori): </a:t>
            </a:r>
            <a:r>
              <a:rPr lang="it-IT" dirty="0"/>
              <a:t>Quale classificatore presenta il grado di accuratezza superiore tra quelli analizzati?</a:t>
            </a:r>
          </a:p>
          <a:p>
            <a:r>
              <a:rPr lang="it-IT" b="1" dirty="0"/>
              <a:t>RQ2 (Efficacia del </a:t>
            </a:r>
            <a:r>
              <a:rPr lang="it-IT" b="1" dirty="0" err="1"/>
              <a:t>Refactoring</a:t>
            </a:r>
            <a:r>
              <a:rPr lang="it-IT" b="1" dirty="0"/>
              <a:t>): </a:t>
            </a:r>
            <a:r>
              <a:rPr lang="it-IT" dirty="0"/>
              <a:t>In che misura l’intervento di </a:t>
            </a:r>
            <a:r>
              <a:rPr lang="it-IT" dirty="0" err="1"/>
              <a:t>refactoring</a:t>
            </a:r>
            <a:r>
              <a:rPr lang="it-IT" dirty="0"/>
              <a:t> sul metodo più critico (scelto in base alla metrica più correlata al bug nell’ultima release) ha influenzato le feature correlate alla </a:t>
            </a:r>
            <a:r>
              <a:rPr lang="it-IT" dirty="0" err="1"/>
              <a:t>bugginess</a:t>
            </a:r>
            <a:r>
              <a:rPr lang="it-IT" dirty="0"/>
              <a:t>?</a:t>
            </a:r>
          </a:p>
          <a:p>
            <a:r>
              <a:rPr lang="it-IT" b="1" dirty="0"/>
              <a:t>RQ3 (Analisi </a:t>
            </a:r>
            <a:r>
              <a:rPr lang="it-IT" b="1" dirty="0" err="1"/>
              <a:t>What-If</a:t>
            </a:r>
            <a:r>
              <a:rPr lang="it-IT" b="1" dirty="0"/>
              <a:t>): </a:t>
            </a:r>
            <a:r>
              <a:rPr lang="it-IT" dirty="0"/>
              <a:t>Quanti metodi difettosi sarebbero potuti essere evitati eliminando completamente gli </a:t>
            </a:r>
            <a:r>
              <a:rPr lang="it-IT" dirty="0" err="1"/>
              <a:t>smell</a:t>
            </a:r>
            <a:r>
              <a:rPr lang="it-IT" dirty="0"/>
              <a:t> di codice (scenario zero-</a:t>
            </a:r>
            <a:r>
              <a:rPr lang="it-IT" dirty="0" err="1"/>
              <a:t>smells</a:t>
            </a:r>
            <a:r>
              <a:rPr lang="it-IT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05268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83AD59-1AFF-40CF-6A61-8DDF5763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ML pipeline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38095AF-57C0-852F-5C65-7296CBEFE32B}"/>
              </a:ext>
            </a:extLst>
          </p:cNvPr>
          <p:cNvSpPr/>
          <p:nvPr/>
        </p:nvSpPr>
        <p:spPr>
          <a:xfrm>
            <a:off x="838200" y="2538662"/>
            <a:ext cx="1515979" cy="1528011"/>
          </a:xfrm>
          <a:prstGeom prst="rect">
            <a:avLst/>
          </a:prstGeom>
          <a:noFill/>
          <a:ln w="38100" cmpd="dbl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1D83F43-64D5-765B-75E7-9BDAA9E8F3CC}"/>
              </a:ext>
            </a:extLst>
          </p:cNvPr>
          <p:cNvSpPr/>
          <p:nvPr/>
        </p:nvSpPr>
        <p:spPr>
          <a:xfrm>
            <a:off x="3003885" y="2538661"/>
            <a:ext cx="1515979" cy="1528011"/>
          </a:xfrm>
          <a:prstGeom prst="rect">
            <a:avLst/>
          </a:prstGeom>
          <a:noFill/>
          <a:ln w="38100" cmpd="dbl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BD6DD11-0036-C749-EC4E-C552EA6201A5}"/>
              </a:ext>
            </a:extLst>
          </p:cNvPr>
          <p:cNvSpPr/>
          <p:nvPr/>
        </p:nvSpPr>
        <p:spPr>
          <a:xfrm>
            <a:off x="5169570" y="2538661"/>
            <a:ext cx="1515979" cy="1528011"/>
          </a:xfrm>
          <a:prstGeom prst="rect">
            <a:avLst/>
          </a:prstGeom>
          <a:noFill/>
          <a:ln w="38100" cmpd="dbl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8F3A78-7566-DAD9-5667-C607772B5BDC}"/>
              </a:ext>
            </a:extLst>
          </p:cNvPr>
          <p:cNvSpPr/>
          <p:nvPr/>
        </p:nvSpPr>
        <p:spPr>
          <a:xfrm>
            <a:off x="7335255" y="2538661"/>
            <a:ext cx="1515979" cy="1528011"/>
          </a:xfrm>
          <a:prstGeom prst="rect">
            <a:avLst/>
          </a:prstGeom>
          <a:noFill/>
          <a:ln w="38100" cmpd="dbl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484A728-D3BE-4459-BDCD-F05E2C6EB11F}"/>
              </a:ext>
            </a:extLst>
          </p:cNvPr>
          <p:cNvSpPr/>
          <p:nvPr/>
        </p:nvSpPr>
        <p:spPr>
          <a:xfrm>
            <a:off x="9500940" y="2538661"/>
            <a:ext cx="1515979" cy="1528011"/>
          </a:xfrm>
          <a:prstGeom prst="rect">
            <a:avLst/>
          </a:prstGeom>
          <a:noFill/>
          <a:ln w="38100" cmpd="dbl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1DD0CBE-C53B-EC7A-28EB-31672CE989D6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354179" y="3302667"/>
            <a:ext cx="649706" cy="1"/>
          </a:xfrm>
          <a:prstGeom prst="straightConnector1">
            <a:avLst/>
          </a:prstGeom>
          <a:ln w="47625">
            <a:solidFill>
              <a:schemeClr val="accent3"/>
            </a:solidFill>
            <a:prstDash val="solid"/>
            <a:headEnd type="none"/>
            <a:tailEnd type="triangl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519C322-63E5-6E31-18B9-DE56634754F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519864" y="3302667"/>
            <a:ext cx="649706" cy="0"/>
          </a:xfrm>
          <a:prstGeom prst="straightConnector1">
            <a:avLst/>
          </a:prstGeom>
          <a:ln w="47625">
            <a:solidFill>
              <a:schemeClr val="accent3"/>
            </a:solidFill>
            <a:prstDash val="solid"/>
            <a:headEnd type="none"/>
            <a:tailEnd type="triangl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B9D6A07-B1E3-4921-5BB4-DD8F26BF4D6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685549" y="3302667"/>
            <a:ext cx="649706" cy="0"/>
          </a:xfrm>
          <a:prstGeom prst="straightConnector1">
            <a:avLst/>
          </a:prstGeom>
          <a:ln w="47625">
            <a:solidFill>
              <a:schemeClr val="accent3"/>
            </a:solidFill>
            <a:prstDash val="solid"/>
            <a:headEnd type="none"/>
            <a:tailEnd type="triangl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C9B1E7B-5FF7-FF05-FDFE-A59E89E6B69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51234" y="3302667"/>
            <a:ext cx="649706" cy="0"/>
          </a:xfrm>
          <a:prstGeom prst="straightConnector1">
            <a:avLst/>
          </a:prstGeom>
          <a:ln w="47625">
            <a:solidFill>
              <a:schemeClr val="accent3"/>
            </a:solidFill>
            <a:prstDash val="solid"/>
            <a:headEnd type="none"/>
            <a:tailEnd type="triangl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Elemento grafico 17" descr="Database con riempimento a tinta unita">
            <a:extLst>
              <a:ext uri="{FF2B5EF4-FFF2-40B4-BE49-F238E27FC236}">
                <a16:creationId xmlns:a16="http://schemas.microsoft.com/office/drawing/2014/main" id="{F63DE9E7-B76A-2D83-97C5-CF28839D3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926" y="2845466"/>
            <a:ext cx="914400" cy="914400"/>
          </a:xfrm>
          <a:prstGeom prst="rect">
            <a:avLst/>
          </a:prstGeom>
        </p:spPr>
      </p:pic>
      <p:pic>
        <p:nvPicPr>
          <p:cNvPr id="22" name="Elemento grafico 21" descr="Etichetta con riempimento a tinta unita">
            <a:extLst>
              <a:ext uri="{FF2B5EF4-FFF2-40B4-BE49-F238E27FC236}">
                <a16:creationId xmlns:a16="http://schemas.microsoft.com/office/drawing/2014/main" id="{6BB6638C-9A09-F169-7ADB-6DB35D5DF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0610" y="2845466"/>
            <a:ext cx="914400" cy="914400"/>
          </a:xfrm>
          <a:prstGeom prst="rect">
            <a:avLst/>
          </a:prstGeom>
        </p:spPr>
      </p:pic>
      <p:pic>
        <p:nvPicPr>
          <p:cNvPr id="24" name="Elemento grafico 23" descr="Appunti parzialmente spuntanti con riempimento a tinta unita">
            <a:extLst>
              <a:ext uri="{FF2B5EF4-FFF2-40B4-BE49-F238E27FC236}">
                <a16:creationId xmlns:a16="http://schemas.microsoft.com/office/drawing/2014/main" id="{CF24E0D7-967E-9C45-0069-8BB05BF24E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0029" y="2845466"/>
            <a:ext cx="914400" cy="914400"/>
          </a:xfrm>
          <a:prstGeom prst="rect">
            <a:avLst/>
          </a:prstGeom>
        </p:spPr>
      </p:pic>
      <p:pic>
        <p:nvPicPr>
          <p:cNvPr id="26" name="Elemento grafico 25" descr="Freccia linea: rotazione a destra con riempimento a tinta unita">
            <a:extLst>
              <a:ext uri="{FF2B5EF4-FFF2-40B4-BE49-F238E27FC236}">
                <a16:creationId xmlns:a16="http://schemas.microsoft.com/office/drawing/2014/main" id="{B67E0370-5364-B664-7025-29C1290956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1729" y="2845466"/>
            <a:ext cx="914400" cy="914400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DFAF060-4E64-EB79-0376-C122A32D6D55}"/>
              </a:ext>
            </a:extLst>
          </p:cNvPr>
          <p:cNvSpPr txBox="1"/>
          <p:nvPr/>
        </p:nvSpPr>
        <p:spPr>
          <a:xfrm>
            <a:off x="814136" y="4188811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Extraction</a:t>
            </a:r>
            <a:endParaRPr lang="it-IT" b="1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032AFF5-9A4C-06CE-FA1F-EC7D20D9FB65}"/>
              </a:ext>
            </a:extLst>
          </p:cNvPr>
          <p:cNvSpPr txBox="1"/>
          <p:nvPr/>
        </p:nvSpPr>
        <p:spPr>
          <a:xfrm>
            <a:off x="2979821" y="4188811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Labeling</a:t>
            </a:r>
            <a:endParaRPr lang="it-IT" b="1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65949F8-17D6-017A-2E3F-060ABC728023}"/>
              </a:ext>
            </a:extLst>
          </p:cNvPr>
          <p:cNvSpPr txBox="1"/>
          <p:nvPr/>
        </p:nvSpPr>
        <p:spPr>
          <a:xfrm>
            <a:off x="5145506" y="4188811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Snoring</a:t>
            </a:r>
            <a:endParaRPr lang="it-IT" b="1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51E8D39-FAE7-4BD4-8984-E9EC66EABB37}"/>
              </a:ext>
            </a:extLst>
          </p:cNvPr>
          <p:cNvSpPr txBox="1"/>
          <p:nvPr/>
        </p:nvSpPr>
        <p:spPr>
          <a:xfrm>
            <a:off x="7335255" y="4184347"/>
            <a:ext cx="151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Feature</a:t>
            </a:r>
            <a:br>
              <a:rPr lang="it-IT" b="1" dirty="0"/>
            </a:br>
            <a:r>
              <a:rPr lang="it-IT" b="1" dirty="0" err="1"/>
              <a:t>Extraction</a:t>
            </a:r>
            <a:endParaRPr lang="it-IT" b="1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F42F682-3CB4-815C-AACC-8AB24B861C3A}"/>
              </a:ext>
            </a:extLst>
          </p:cNvPr>
          <p:cNvSpPr txBox="1"/>
          <p:nvPr/>
        </p:nvSpPr>
        <p:spPr>
          <a:xfrm>
            <a:off x="9500939" y="4188811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Validation</a:t>
            </a:r>
            <a:endParaRPr lang="it-IT" b="1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0BF6773-5CB3-1EE5-C9E8-C62C6A6448AB}"/>
              </a:ext>
            </a:extLst>
          </p:cNvPr>
          <p:cNvSpPr txBox="1"/>
          <p:nvPr/>
        </p:nvSpPr>
        <p:spPr>
          <a:xfrm>
            <a:off x="814136" y="4558404"/>
            <a:ext cx="1515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Jgit</a:t>
            </a:r>
            <a:r>
              <a:rPr lang="it-IT" dirty="0"/>
              <a:t> &amp; </a:t>
            </a:r>
            <a:r>
              <a:rPr lang="it-IT" dirty="0" err="1"/>
              <a:t>Jira</a:t>
            </a:r>
            <a:r>
              <a:rPr lang="it-IT" dirty="0"/>
              <a:t> API</a:t>
            </a:r>
          </a:p>
          <a:p>
            <a:pPr algn="ctr"/>
            <a:r>
              <a:rPr lang="it-IT" dirty="0"/>
              <a:t>Snapshot &amp;</a:t>
            </a:r>
          </a:p>
          <a:p>
            <a:pPr algn="ctr"/>
            <a:r>
              <a:rPr lang="it-IT" dirty="0"/>
              <a:t>Tickets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BFE8B94-552B-F163-ACD8-F4A331AB239C}"/>
              </a:ext>
            </a:extLst>
          </p:cNvPr>
          <p:cNvSpPr txBox="1"/>
          <p:nvPr/>
        </p:nvSpPr>
        <p:spPr>
          <a:xfrm>
            <a:off x="2955757" y="4543144"/>
            <a:ext cx="151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SZZ </a:t>
            </a:r>
            <a:r>
              <a:rPr lang="it-IT" dirty="0" err="1"/>
              <a:t>Propotion</a:t>
            </a:r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6DFF738-CEC8-21D5-48A4-8659A94A0B18}"/>
              </a:ext>
            </a:extLst>
          </p:cNvPr>
          <p:cNvSpPr txBox="1"/>
          <p:nvPr/>
        </p:nvSpPr>
        <p:spPr>
          <a:xfrm>
            <a:off x="7335255" y="4830678"/>
            <a:ext cx="1515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31 Metriche</a:t>
            </a:r>
          </a:p>
          <a:p>
            <a:pPr algn="ctr"/>
            <a:r>
              <a:rPr lang="it-IT" dirty="0"/>
              <a:t>(Statiche e Temporali)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A8CD174E-2257-6562-50B2-B8614603FC2E}"/>
              </a:ext>
            </a:extLst>
          </p:cNvPr>
          <p:cNvSpPr txBox="1"/>
          <p:nvPr/>
        </p:nvSpPr>
        <p:spPr>
          <a:xfrm>
            <a:off x="9329489" y="4558404"/>
            <a:ext cx="1858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Walk-forward</a:t>
            </a:r>
            <a:endParaRPr lang="it-IT" dirty="0"/>
          </a:p>
          <a:p>
            <a:pPr algn="ctr"/>
            <a:r>
              <a:rPr lang="it-IT" dirty="0"/>
              <a:t>Train sul passato</a:t>
            </a:r>
          </a:p>
          <a:p>
            <a:pPr algn="ctr"/>
            <a:r>
              <a:rPr lang="it-IT" dirty="0"/>
              <a:t>Test sul presente</a:t>
            </a:r>
          </a:p>
        </p:txBody>
      </p:sp>
      <p:pic>
        <p:nvPicPr>
          <p:cNvPr id="42" name="Elemento grafico 41" descr="Pisolino con riempimento a tinta unita">
            <a:extLst>
              <a:ext uri="{FF2B5EF4-FFF2-40B4-BE49-F238E27FC236}">
                <a16:creationId xmlns:a16="http://schemas.microsoft.com/office/drawing/2014/main" id="{3BF93BB0-3DF4-41F9-15F0-2C75C20CBD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6375" y="2756142"/>
            <a:ext cx="914400" cy="914400"/>
          </a:xfrm>
          <a:prstGeom prst="rect">
            <a:avLst/>
          </a:prstGeom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47F3CB2-082C-207B-F83D-81D82CB87AB3}"/>
              </a:ext>
            </a:extLst>
          </p:cNvPr>
          <p:cNvSpPr txBox="1"/>
          <p:nvPr/>
        </p:nvSpPr>
        <p:spPr>
          <a:xfrm>
            <a:off x="5169569" y="4523870"/>
            <a:ext cx="1515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Taglio 66% delle release più recenti</a:t>
            </a:r>
          </a:p>
        </p:txBody>
      </p:sp>
    </p:spTree>
    <p:extLst>
      <p:ext uri="{BB962C8B-B14F-4D97-AF65-F5344CB8AC3E}">
        <p14:creationId xmlns:p14="http://schemas.microsoft.com/office/powerpoint/2010/main" val="20210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6E0BC2-0239-1D9E-6B7F-C776AC97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del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2AD6B-3244-46EE-25E0-370A0C11D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Progetti analizzati: Apache </a:t>
            </a:r>
            <a:r>
              <a:rPr lang="it-IT" dirty="0" err="1"/>
              <a:t>Bookkeeper</a:t>
            </a:r>
            <a:r>
              <a:rPr lang="it-IT" dirty="0"/>
              <a:t> e </a:t>
            </a:r>
            <a:r>
              <a:rPr lang="it-IT" dirty="0" err="1"/>
              <a:t>OpenJPA</a:t>
            </a:r>
            <a:endParaRPr lang="it-IT" dirty="0"/>
          </a:p>
          <a:p>
            <a:r>
              <a:rPr lang="it-IT" dirty="0"/>
              <a:t>Selezione delle versioni (</a:t>
            </a:r>
            <a:r>
              <a:rPr lang="it-IT" dirty="0" err="1"/>
              <a:t>Jira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Le release ufficiali registrate su </a:t>
            </a:r>
            <a:r>
              <a:rPr lang="it-IT" dirty="0" err="1"/>
              <a:t>Jira</a:t>
            </a:r>
            <a:r>
              <a:rPr lang="it-IT" dirty="0"/>
              <a:t> fungono da punto di riferimento temporale primario</a:t>
            </a:r>
          </a:p>
          <a:p>
            <a:pPr lvl="1"/>
            <a:r>
              <a:rPr lang="it-IT" dirty="0"/>
              <a:t>Sono state eliminate le versioni indicate come non rilasciate o prive di data di rilascio</a:t>
            </a:r>
          </a:p>
          <a:p>
            <a:r>
              <a:rPr lang="it-IT" dirty="0"/>
              <a:t>Estrazione dal Version Control (</a:t>
            </a:r>
            <a:r>
              <a:rPr lang="it-IT" dirty="0" err="1"/>
              <a:t>Git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Per ogni release </a:t>
            </a:r>
            <a:r>
              <a:rPr lang="it-IT" dirty="0" err="1"/>
              <a:t>Jira</a:t>
            </a:r>
            <a:r>
              <a:rPr lang="it-IT" dirty="0"/>
              <a:t>, lo snapshot del sistema è stato ricostruito posizionandosi sull’ultimo </a:t>
            </a:r>
            <a:r>
              <a:rPr lang="it-IT" dirty="0" err="1"/>
              <a:t>commit</a:t>
            </a:r>
            <a:r>
              <a:rPr lang="it-IT" dirty="0"/>
              <a:t> effettuato entro la data di rilascio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662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6A5C47-6D8D-B331-2DEC-245A6553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Labeling</a:t>
            </a:r>
            <a:r>
              <a:rPr lang="it-IT" dirty="0"/>
              <a:t>  e </a:t>
            </a:r>
            <a:r>
              <a:rPr lang="it-IT" dirty="0" err="1"/>
              <a:t>Propotion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97B6CCD-5C71-8D2B-2705-01E3872FE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537" y="1430302"/>
                <a:ext cx="10515600" cy="2437577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it-IT" b="1" dirty="0"/>
                  <a:t>Problema</a:t>
                </a:r>
                <a:r>
                  <a:rPr lang="it-IT" dirty="0"/>
                  <a:t>: Molti ticket </a:t>
                </a:r>
                <a:r>
                  <a:rPr lang="it-IT" dirty="0" err="1"/>
                  <a:t>Jira</a:t>
                </a:r>
                <a:r>
                  <a:rPr lang="it-IT" dirty="0"/>
                  <a:t> riportano la </a:t>
                </a:r>
                <a:r>
                  <a:rPr lang="it-IT" dirty="0" err="1"/>
                  <a:t>Fixed</a:t>
                </a:r>
                <a:r>
                  <a:rPr lang="it-IT" dirty="0"/>
                  <a:t> Version (FV) ma mancano della </a:t>
                </a:r>
                <a:r>
                  <a:rPr lang="it-IT" dirty="0" err="1"/>
                  <a:t>Injected</a:t>
                </a:r>
                <a:r>
                  <a:rPr lang="it-IT" dirty="0"/>
                  <a:t> Version (IV)</a:t>
                </a:r>
              </a:p>
              <a:p>
                <a:r>
                  <a:rPr lang="it-IT" b="1" dirty="0"/>
                  <a:t>Soluzione</a:t>
                </a:r>
                <a:r>
                  <a:rPr lang="it-IT" dirty="0"/>
                  <a:t>: Applicazione dell’euristica </a:t>
                </a:r>
                <a:r>
                  <a:rPr lang="it-IT" b="1" dirty="0"/>
                  <a:t>SZZ </a:t>
                </a:r>
                <a:r>
                  <a:rPr lang="it-IT" b="1" dirty="0" err="1"/>
                  <a:t>Propotion</a:t>
                </a:r>
                <a:r>
                  <a:rPr lang="it-IT" b="1" dirty="0"/>
                  <a:t> </a:t>
                </a:r>
                <a:r>
                  <a:rPr lang="it-IT" dirty="0"/>
                  <a:t>per stimare la versione di iniezione.</a:t>
                </a:r>
              </a:p>
              <a:p>
                <a:r>
                  <a:rPr lang="it-IT" b="1" dirty="0"/>
                  <a:t>P (</a:t>
                </a:r>
                <a:r>
                  <a:rPr lang="it-IT" b="1" dirty="0" err="1"/>
                  <a:t>Proportion</a:t>
                </a:r>
                <a:r>
                  <a:rPr lang="it-IT" b="1" dirty="0"/>
                  <a:t> </a:t>
                </a:r>
                <a:r>
                  <a:rPr lang="it-IT" b="1" dirty="0" err="1"/>
                  <a:t>factor</a:t>
                </a:r>
                <a:r>
                  <a:rPr lang="it-IT" b="1" dirty="0"/>
                  <a:t>):</a:t>
                </a:r>
                <a:r>
                  <a:rPr lang="it-IT" dirty="0"/>
                  <a:t> Calcolato con un approccio </a:t>
                </a:r>
                <a:r>
                  <a:rPr lang="it-IT" b="1" dirty="0" err="1"/>
                  <a:t>Moving</a:t>
                </a:r>
                <a:r>
                  <a:rPr lang="it-IT" b="1" dirty="0"/>
                  <a:t> Window</a:t>
                </a:r>
                <a:r>
                  <a:rPr lang="it-IT" dirty="0"/>
                  <a:t> (finestra mobile dell'1%) basato sui ticket passati con IV nota.</a:t>
                </a:r>
              </a:p>
              <a:p>
                <a:r>
                  <a:rPr lang="it-IT" b="1" dirty="0"/>
                  <a:t>Fix-</a:t>
                </a:r>
                <a:r>
                  <a:rPr lang="it-IT" b="1" dirty="0" err="1"/>
                  <a:t>Commit</a:t>
                </a:r>
                <a:r>
                  <a:rPr lang="it-IT" b="1" dirty="0"/>
                  <a:t>:</a:t>
                </a:r>
                <a:r>
                  <a:rPr lang="it-IT" dirty="0"/>
                  <a:t> Identificazione dei </a:t>
                </a:r>
                <a:r>
                  <a:rPr lang="it-IT" dirty="0" err="1"/>
                  <a:t>commit</a:t>
                </a:r>
                <a:r>
                  <a:rPr lang="it-IT" dirty="0"/>
                  <a:t> di correzione tramite la ricerca dell'ID del ticket nei messaggi di </a:t>
                </a:r>
                <a:r>
                  <a:rPr lang="it-IT" dirty="0" err="1"/>
                  <a:t>commit</a:t>
                </a:r>
                <a:r>
                  <a:rPr lang="it-IT" dirty="0"/>
                  <a:t>.</a:t>
                </a:r>
              </a:p>
              <a:p>
                <a:r>
                  <a:rPr lang="it-IT" b="1" dirty="0" err="1"/>
                  <a:t>Labeling</a:t>
                </a:r>
                <a:r>
                  <a:rPr lang="it-IT" b="1" dirty="0"/>
                  <a:t> del Metodo</a:t>
                </a:r>
                <a:r>
                  <a:rPr lang="it-IT" dirty="0"/>
                  <a:t>: Un metodo è etichettato come </a:t>
                </a:r>
                <a:r>
                  <a:rPr lang="it-IT" i="1" dirty="0"/>
                  <a:t>Buggy</a:t>
                </a:r>
                <a:r>
                  <a:rPr lang="it-IT" dirty="0"/>
                  <a:t> in tutte le versioni comprese nell’intervallo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escludendo la versione in cui è stato risolto.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97B6CCD-5C71-8D2B-2705-01E3872FE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537" y="1430302"/>
                <a:ext cx="10515600" cy="2437577"/>
              </a:xfrm>
              <a:blipFill>
                <a:blip r:embed="rId2"/>
                <a:stretch>
                  <a:fillRect l="-348" t="-4010" r="-8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6991DD5-991A-3ED0-344F-D00B4ED77B7A}"/>
                  </a:ext>
                </a:extLst>
              </p:cNvPr>
              <p:cNvSpPr txBox="1"/>
              <p:nvPr/>
            </p:nvSpPr>
            <p:spPr>
              <a:xfrm>
                <a:off x="1346535" y="3837101"/>
                <a:ext cx="38140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𝐹𝑉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−(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∙ (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𝐹𝑉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𝑂𝑉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6991DD5-991A-3ED0-344F-D00B4ED77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35" y="3837101"/>
                <a:ext cx="3814009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185D808-CDB0-FAA0-555D-4BA7291B1EFA}"/>
                  </a:ext>
                </a:extLst>
              </p:cNvPr>
              <p:cNvSpPr txBox="1"/>
              <p:nvPr/>
            </p:nvSpPr>
            <p:spPr>
              <a:xfrm>
                <a:off x="7031458" y="3747077"/>
                <a:ext cx="187091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𝑂𝑉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185D808-CDB0-FAA0-555D-4BA7291B1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458" y="3747077"/>
                <a:ext cx="187091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4A26C9D-4DB7-C2AA-3A58-C6CBF69742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3"/>
          <a:stretch>
            <a:fillRect/>
          </a:stretch>
        </p:blipFill>
        <p:spPr>
          <a:xfrm>
            <a:off x="964683" y="4899341"/>
            <a:ext cx="4305149" cy="138935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54580AF-F21A-EA82-3BCE-F7E32708CFE1}"/>
              </a:ext>
            </a:extLst>
          </p:cNvPr>
          <p:cNvSpPr txBox="1"/>
          <p:nvPr/>
        </p:nvSpPr>
        <p:spPr>
          <a:xfrm>
            <a:off x="1826870" y="4563724"/>
            <a:ext cx="258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Apache </a:t>
            </a:r>
            <a:r>
              <a:rPr lang="it-IT" b="1" dirty="0" err="1"/>
              <a:t>OpenJPA</a:t>
            </a:r>
            <a:endParaRPr lang="it-IT" b="1" dirty="0"/>
          </a:p>
        </p:txBody>
      </p:sp>
      <p:pic>
        <p:nvPicPr>
          <p:cNvPr id="13" name="Immagine 1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A4552CF-D745-ABEF-B68A-D1248F3C8D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95"/>
          <a:stretch>
            <a:fillRect/>
          </a:stretch>
        </p:blipFill>
        <p:spPr>
          <a:xfrm>
            <a:off x="6922168" y="4887379"/>
            <a:ext cx="4305149" cy="140131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FB3023F-52F2-8D42-3CF5-80809FD3EB61}"/>
              </a:ext>
            </a:extLst>
          </p:cNvPr>
          <p:cNvSpPr txBox="1"/>
          <p:nvPr/>
        </p:nvSpPr>
        <p:spPr>
          <a:xfrm>
            <a:off x="7784356" y="4563724"/>
            <a:ext cx="258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Apache </a:t>
            </a:r>
            <a:r>
              <a:rPr lang="it-IT" b="1" dirty="0" err="1"/>
              <a:t>Bookkeeper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57973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407688-646E-226A-D118-6053E71A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it-IT" dirty="0" err="1"/>
              <a:t>Snoring</a:t>
            </a:r>
            <a:endParaRPr lang="it-IT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601AD8-F746-0D25-8768-5ADF97215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Taglio</a:t>
            </a:r>
            <a:r>
              <a:rPr lang="en-US" b="1" dirty="0"/>
              <a:t> del Dataset</a:t>
            </a:r>
            <a:r>
              <a:rPr lang="en-US" dirty="0"/>
              <a:t>: </a:t>
            </a:r>
            <a:r>
              <a:rPr lang="it-IT" dirty="0"/>
              <a:t>Per garantire l'integrità dei dati, è stato effettuato un taglio netto delle release finali.</a:t>
            </a:r>
          </a:p>
          <a:p>
            <a:r>
              <a:rPr lang="en-US" b="1" dirty="0" err="1"/>
              <a:t>Percentuale</a:t>
            </a:r>
            <a:r>
              <a:rPr lang="en-US" b="1" dirty="0"/>
              <a:t> di </a:t>
            </a:r>
            <a:r>
              <a:rPr lang="en-US" b="1" dirty="0" err="1"/>
              <a:t>scarto</a:t>
            </a:r>
            <a:r>
              <a:rPr lang="en-US" dirty="0"/>
              <a:t>: </a:t>
            </a:r>
            <a:r>
              <a:rPr lang="it-IT" dirty="0"/>
              <a:t>È stato rimosso l'ultimo </a:t>
            </a:r>
            <a:r>
              <a:rPr lang="it-IT" b="1" dirty="0"/>
              <a:t>66% delle release</a:t>
            </a:r>
            <a:r>
              <a:rPr lang="it-IT" dirty="0"/>
              <a:t> per entrambi i progetti (</a:t>
            </a:r>
            <a:r>
              <a:rPr lang="it-IT" dirty="0" err="1"/>
              <a:t>Bookkeeper</a:t>
            </a:r>
            <a:r>
              <a:rPr lang="it-IT" dirty="0"/>
              <a:t> (5 release tolte 9) e </a:t>
            </a:r>
            <a:r>
              <a:rPr lang="it-IT" dirty="0" err="1"/>
              <a:t>OpenJPA</a:t>
            </a:r>
            <a:r>
              <a:rPr lang="it-IT" dirty="0"/>
              <a:t> (14 release tolte 28)).</a:t>
            </a:r>
          </a:p>
          <a:p>
            <a:r>
              <a:rPr lang="it-IT" b="1" dirty="0"/>
              <a:t>Obiettivo</a:t>
            </a:r>
            <a:r>
              <a:rPr lang="it-IT" dirty="0"/>
              <a:t>: Assicurare un "intervallo di osservazione" sufficientemente lungo affinché i bug latenti possano emergere ed essere etichettati correttamente (Buggy).</a:t>
            </a:r>
            <a:endParaRPr lang="en-US" dirty="0"/>
          </a:p>
        </p:txBody>
      </p:sp>
      <p:pic>
        <p:nvPicPr>
          <p:cNvPr id="4" name="Segnaposto contenuto 3" descr="Immagine che contiene disegno, schizzo, Arte bambini, arte&#10;&#10;Il contenuto generato dall'IA potrebbe non essere corretto.">
            <a:extLst>
              <a:ext uri="{FF2B5EF4-FFF2-40B4-BE49-F238E27FC236}">
                <a16:creationId xmlns:a16="http://schemas.microsoft.com/office/drawing/2014/main" id="{AB0A1BDF-9E39-3150-7A83-780CB9B84F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92" y="1690688"/>
            <a:ext cx="4432852" cy="3302474"/>
          </a:xfrm>
          <a:prstGeom prst="rect">
            <a:avLst/>
          </a:prstGeom>
          <a:noFill/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FB9618-D7D2-8109-BC24-04480FD3C476}"/>
              </a:ext>
            </a:extLst>
          </p:cNvPr>
          <p:cNvSpPr txBox="1"/>
          <p:nvPr/>
        </p:nvSpPr>
        <p:spPr>
          <a:xfrm>
            <a:off x="6983896" y="5148470"/>
            <a:ext cx="42539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/>
              <a:t>Il </a:t>
            </a:r>
            <a:r>
              <a:rPr lang="it-IT" sz="1400" i="1" dirty="0" err="1"/>
              <a:t>Survivorship</a:t>
            </a:r>
            <a:r>
              <a:rPr lang="it-IT" sz="1400" i="1" dirty="0"/>
              <a:t> </a:t>
            </a:r>
            <a:r>
              <a:rPr lang="it-IT" sz="1400" i="1" dirty="0" err="1"/>
              <a:t>Bias</a:t>
            </a:r>
            <a:r>
              <a:rPr lang="it-IT" sz="1400" i="1" dirty="0"/>
              <a:t> come metafora del Code </a:t>
            </a:r>
            <a:r>
              <a:rPr lang="it-IT" sz="1400" i="1" dirty="0" err="1"/>
              <a:t>Snoring</a:t>
            </a:r>
            <a:r>
              <a:rPr lang="it-IT" sz="1400" i="1" dirty="0"/>
              <a:t>. Le zone senza '</a:t>
            </a:r>
            <a:r>
              <a:rPr lang="it-IT" sz="1400" i="1" dirty="0" err="1"/>
              <a:t>colpi'</a:t>
            </a:r>
            <a:r>
              <a:rPr lang="it-IT" sz="1400" i="1" dirty="0"/>
              <a:t> (bug) nelle release recenti sono spesso difettosità latenti non ancora rilevate.</a:t>
            </a:r>
          </a:p>
        </p:txBody>
      </p:sp>
    </p:spTree>
    <p:extLst>
      <p:ext uri="{BB962C8B-B14F-4D97-AF65-F5344CB8AC3E}">
        <p14:creationId xmlns:p14="http://schemas.microsoft.com/office/powerpoint/2010/main" val="84566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611F1A-F9A3-E6C0-E197-595F9176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metriche raccolte</a:t>
            </a:r>
          </a:p>
        </p:txBody>
      </p:sp>
      <p:pic>
        <p:nvPicPr>
          <p:cNvPr id="5" name="Segnaposto contenuto 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1822674A-D43B-0422-FF1E-ADA6BAB83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53" b="-1"/>
          <a:stretch>
            <a:fillRect/>
          </a:stretch>
        </p:blipFill>
        <p:spPr>
          <a:xfrm>
            <a:off x="575511" y="2143748"/>
            <a:ext cx="8129337" cy="322482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36106A-654E-23D5-464B-5DD13B3FAE7F}"/>
              </a:ext>
            </a:extLst>
          </p:cNvPr>
          <p:cNvSpPr txBox="1"/>
          <p:nvPr/>
        </p:nvSpPr>
        <p:spPr>
          <a:xfrm>
            <a:off x="9083842" y="2003258"/>
            <a:ext cx="24544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b="1" dirty="0"/>
              <a:t>Dimensioni temporali</a:t>
            </a:r>
            <a:r>
              <a:rPr lang="it-IT" sz="1500" dirty="0"/>
              <a:t>:</a:t>
            </a:r>
          </a:p>
          <a:p>
            <a:r>
              <a:rPr lang="it-IT" sz="1400" b="1" dirty="0" err="1"/>
              <a:t>Loc</a:t>
            </a:r>
            <a:r>
              <a:rPr lang="it-IT" sz="1400" dirty="0"/>
              <a:t> (Locale): </a:t>
            </a:r>
            <a:r>
              <a:rPr lang="it-IT" sz="1400" dirty="0" err="1"/>
              <a:t>Commit</a:t>
            </a:r>
            <a:r>
              <a:rPr lang="it-IT" sz="1400" dirty="0"/>
              <a:t> tra release corrente e precedente</a:t>
            </a:r>
          </a:p>
          <a:p>
            <a:r>
              <a:rPr lang="it-IT" sz="1400" b="1" dirty="0" err="1"/>
              <a:t>Glob</a:t>
            </a:r>
            <a:r>
              <a:rPr lang="it-IT" sz="1400" dirty="0"/>
              <a:t> (Globale): Storico dall'inserimento del metodo</a:t>
            </a:r>
          </a:p>
          <a:p>
            <a:endParaRPr lang="it-IT" sz="1400" dirty="0"/>
          </a:p>
          <a:p>
            <a:r>
              <a:rPr lang="it-IT" sz="1500" b="1" dirty="0"/>
              <a:t>Operatori di Aggregazione</a:t>
            </a:r>
            <a:r>
              <a:rPr lang="it-IT" sz="1400" dirty="0"/>
              <a:t>: </a:t>
            </a:r>
          </a:p>
          <a:p>
            <a:r>
              <a:rPr lang="it-IT" sz="1400" b="1" dirty="0"/>
              <a:t>Sum</a:t>
            </a:r>
            <a:r>
              <a:rPr lang="it-IT" sz="1400" dirty="0"/>
              <a:t>: Somma </a:t>
            </a:r>
          </a:p>
          <a:p>
            <a:r>
              <a:rPr lang="it-IT" sz="1400" b="1" dirty="0"/>
              <a:t>Max</a:t>
            </a:r>
            <a:r>
              <a:rPr lang="it-IT" sz="1400" dirty="0"/>
              <a:t>: Valore Massimo</a:t>
            </a:r>
          </a:p>
          <a:p>
            <a:r>
              <a:rPr lang="it-IT" sz="1400" b="1" dirty="0" err="1"/>
              <a:t>Avg</a:t>
            </a:r>
            <a:r>
              <a:rPr lang="it-IT" sz="1400" dirty="0"/>
              <a:t>: Media</a:t>
            </a:r>
          </a:p>
        </p:txBody>
      </p:sp>
    </p:spTree>
    <p:extLst>
      <p:ext uri="{BB962C8B-B14F-4D97-AF65-F5344CB8AC3E}">
        <p14:creationId xmlns:p14="http://schemas.microsoft.com/office/powerpoint/2010/main" val="335452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28ACC-742D-39E8-A524-C81ECED8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BD35E2-ED8D-E301-637F-8F1D5A7EE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6605" cy="4351338"/>
          </a:xfrm>
        </p:spPr>
        <p:txBody>
          <a:bodyPr>
            <a:normAutofit fontScale="92500" lnSpcReduction="10000"/>
          </a:bodyPr>
          <a:lstStyle/>
          <a:p>
            <a:r>
              <a:rPr lang="it-IT" b="1" dirty="0"/>
              <a:t>Problema</a:t>
            </a:r>
            <a:r>
              <a:rPr lang="it-IT" dirty="0"/>
              <a:t>: La natura dei Dataset software è intrinsecamente sbilanciata (poche istanze ‘Buggy’ rispetto a ‘</a:t>
            </a:r>
            <a:r>
              <a:rPr lang="it-IT" dirty="0" err="1"/>
              <a:t>Clean</a:t>
            </a:r>
            <a:r>
              <a:rPr lang="it-IT" dirty="0"/>
              <a:t>’).</a:t>
            </a:r>
          </a:p>
          <a:p>
            <a:r>
              <a:rPr lang="it-IT" b="1" dirty="0"/>
              <a:t>Tecniche Applicate</a:t>
            </a:r>
            <a:r>
              <a:rPr lang="it-IT" dirty="0"/>
              <a:t>:</a:t>
            </a:r>
          </a:p>
          <a:p>
            <a:pPr lvl="1"/>
            <a:r>
              <a:rPr lang="it-IT" b="1" dirty="0"/>
              <a:t>SMOTE</a:t>
            </a:r>
            <a:r>
              <a:rPr lang="it-IT" dirty="0"/>
              <a:t> (</a:t>
            </a:r>
            <a:r>
              <a:rPr lang="it-IT" dirty="0" err="1"/>
              <a:t>Synthetic</a:t>
            </a:r>
            <a:r>
              <a:rPr lang="it-IT" dirty="0"/>
              <a:t> </a:t>
            </a:r>
            <a:r>
              <a:rPr lang="it-IT" dirty="0" err="1"/>
              <a:t>Minority</a:t>
            </a:r>
            <a:r>
              <a:rPr lang="it-IT" dirty="0"/>
              <a:t> Over-Sampling): Generazione di istanze sintetiche della classe minoritaria per il progetto </a:t>
            </a:r>
            <a:r>
              <a:rPr lang="it-IT" b="1" dirty="0" err="1"/>
              <a:t>Bookkeeper</a:t>
            </a:r>
            <a:r>
              <a:rPr lang="it-IT" dirty="0"/>
              <a:t>.</a:t>
            </a:r>
          </a:p>
          <a:p>
            <a:pPr lvl="1"/>
            <a:r>
              <a:rPr lang="it-IT" b="1" dirty="0"/>
              <a:t>Under-sampling</a:t>
            </a:r>
            <a:r>
              <a:rPr lang="it-IT" dirty="0"/>
              <a:t>: Riduzione casuale della classe maggioritaria per il progetto </a:t>
            </a:r>
            <a:r>
              <a:rPr lang="it-IT" b="1" dirty="0" err="1"/>
              <a:t>OpenJPA</a:t>
            </a:r>
            <a:r>
              <a:rPr lang="it-IT" dirty="0"/>
              <a:t>.</a:t>
            </a:r>
          </a:p>
          <a:p>
            <a:r>
              <a:rPr lang="it-IT" b="1" dirty="0"/>
              <a:t>Obiettivo</a:t>
            </a:r>
            <a:r>
              <a:rPr lang="it-IT" dirty="0"/>
              <a:t>: Prevenire il </a:t>
            </a:r>
            <a:r>
              <a:rPr lang="it-IT" dirty="0" err="1"/>
              <a:t>bias</a:t>
            </a:r>
            <a:r>
              <a:rPr lang="it-IT" dirty="0"/>
              <a:t> del classificatore verso la classe maggioritaria e massimizzare la </a:t>
            </a:r>
            <a:r>
              <a:rPr lang="it-IT" b="1" dirty="0"/>
              <a:t>Recall.</a:t>
            </a:r>
          </a:p>
        </p:txBody>
      </p:sp>
      <p:pic>
        <p:nvPicPr>
          <p:cNvPr id="8" name="Immagine 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BD4DDFA6-65CC-5E6C-C1E9-79951E23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770" y="2087479"/>
            <a:ext cx="4143084" cy="1269343"/>
          </a:xfrm>
          <a:prstGeom prst="rect">
            <a:avLst/>
          </a:prstGeom>
        </p:spPr>
      </p:pic>
      <p:pic>
        <p:nvPicPr>
          <p:cNvPr id="12" name="Immagine 11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23E54A1C-B14B-7903-9482-5A35A9057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544" y="4301498"/>
            <a:ext cx="4055310" cy="121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9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52BFBA-3174-1C56-5F24-0A82141F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Feature </a:t>
            </a:r>
            <a:r>
              <a:rPr lang="it-IT" dirty="0" err="1"/>
              <a:t>Selection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DD37D-369A-42D4-6A10-5E3198890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b="1" dirty="0"/>
              <a:t>Global Feature </a:t>
            </a:r>
            <a:r>
              <a:rPr lang="it-IT" b="1" dirty="0" err="1"/>
              <a:t>Selection</a:t>
            </a:r>
            <a:r>
              <a:rPr lang="it-IT" b="1" dirty="0"/>
              <a:t> </a:t>
            </a:r>
          </a:p>
          <a:p>
            <a:pPr lvl="1"/>
            <a:r>
              <a:rPr lang="it-IT" b="1" dirty="0"/>
              <a:t>Processo</a:t>
            </a:r>
            <a:r>
              <a:rPr lang="it-IT" dirty="0"/>
              <a:t>: La selezione delle metriche viene eseguita una sola volta sull’intero dataset prima della validazione.</a:t>
            </a:r>
          </a:p>
          <a:p>
            <a:pPr lvl="1"/>
            <a:r>
              <a:rPr lang="it-IT" b="1" dirty="0"/>
              <a:t>Problema (Data Leakage)</a:t>
            </a:r>
            <a:r>
              <a:rPr lang="it-IT" dirty="0"/>
              <a:t>:</a:t>
            </a:r>
            <a:r>
              <a:rPr lang="it-IT" b="1" dirty="0"/>
              <a:t> </a:t>
            </a:r>
            <a:r>
              <a:rPr lang="it-IT" dirty="0"/>
              <a:t>Introduce un ‘</a:t>
            </a:r>
            <a:r>
              <a:rPr lang="it-IT" dirty="0" err="1"/>
              <a:t>bias</a:t>
            </a:r>
            <a:r>
              <a:rPr lang="it-IT" dirty="0"/>
              <a:t> di selezione’ perché l’algoritmo vede informazioni provenienti dai test futuri durante la scelta delle feature.</a:t>
            </a:r>
          </a:p>
          <a:p>
            <a:r>
              <a:rPr lang="it-IT" b="1" dirty="0" err="1"/>
              <a:t>Walk-forward</a:t>
            </a:r>
            <a:r>
              <a:rPr lang="it-IT" b="1" dirty="0"/>
              <a:t> / Per-</a:t>
            </a:r>
            <a:r>
              <a:rPr lang="it-IT" b="1" dirty="0" err="1"/>
              <a:t>Fold</a:t>
            </a:r>
            <a:r>
              <a:rPr lang="it-IT" b="1" dirty="0"/>
              <a:t> </a:t>
            </a:r>
            <a:r>
              <a:rPr lang="it-IT" b="1" dirty="0" err="1"/>
              <a:t>Selection</a:t>
            </a:r>
            <a:endParaRPr lang="it-IT" b="1" dirty="0"/>
          </a:p>
          <a:p>
            <a:pPr lvl="1"/>
            <a:r>
              <a:rPr lang="it-IT" b="1" dirty="0"/>
              <a:t>Processo</a:t>
            </a:r>
            <a:r>
              <a:rPr lang="it-IT" dirty="0"/>
              <a:t>: La selezione viene ricalcolata dinamicamente ad ogni </a:t>
            </a:r>
            <a:r>
              <a:rPr lang="it-IT" dirty="0" err="1"/>
              <a:t>fold</a:t>
            </a:r>
            <a:r>
              <a:rPr lang="it-IT" dirty="0"/>
              <a:t>.</a:t>
            </a:r>
          </a:p>
          <a:p>
            <a:pPr lvl="1"/>
            <a:r>
              <a:rPr lang="it-IT" b="1" dirty="0"/>
              <a:t>Vantaggio</a:t>
            </a:r>
            <a:r>
              <a:rPr lang="it-IT" dirty="0"/>
              <a:t>: Utilizza esclusivamente i dati di training disponibili ad ogni iterazione</a:t>
            </a:r>
          </a:p>
          <a:p>
            <a:pPr lvl="1"/>
            <a:r>
              <a:rPr lang="it-IT" b="1" dirty="0"/>
              <a:t>Concept Drift</a:t>
            </a:r>
            <a:r>
              <a:rPr lang="it-IT" dirty="0"/>
              <a:t>: Si adatta all’evoluzione del software, catturando come la rilevanza delle metriche cambi nel tempo.</a:t>
            </a:r>
          </a:p>
          <a:p>
            <a:r>
              <a:rPr lang="it-IT" b="1" dirty="0"/>
              <a:t>Tecniche applicate</a:t>
            </a:r>
            <a:r>
              <a:rPr lang="it-IT" dirty="0"/>
              <a:t>:</a:t>
            </a:r>
          </a:p>
          <a:p>
            <a:pPr lvl="1"/>
            <a:r>
              <a:rPr lang="it-IT" b="1" dirty="0"/>
              <a:t>Ranking Filter (</a:t>
            </a:r>
            <a:r>
              <a:rPr lang="it-IT" b="1" dirty="0" err="1"/>
              <a:t>InfoGain</a:t>
            </a:r>
            <a:r>
              <a:rPr lang="it-IT" b="1" dirty="0"/>
              <a:t>)</a:t>
            </a:r>
            <a:r>
              <a:rPr lang="it-IT" dirty="0"/>
              <a:t>: Valutazione del guadagno informativo per ogni singola metrica</a:t>
            </a:r>
          </a:p>
          <a:p>
            <a:pPr lvl="1"/>
            <a:r>
              <a:rPr lang="it-IT" b="1" dirty="0"/>
              <a:t>Subset Filter (</a:t>
            </a:r>
            <a:r>
              <a:rPr lang="it-IT" b="1" dirty="0" err="1"/>
              <a:t>BestFirst</a:t>
            </a:r>
            <a:r>
              <a:rPr lang="it-IT" b="1" dirty="0"/>
              <a:t> + CFS)</a:t>
            </a:r>
            <a:r>
              <a:rPr lang="it-IT" dirty="0"/>
              <a:t>: Ricerca di sottoinsieme di feature che massimizzano la </a:t>
            </a:r>
            <a:r>
              <a:rPr lang="it-IT" dirty="0" err="1"/>
              <a:t>conrrelazione</a:t>
            </a:r>
            <a:r>
              <a:rPr lang="it-IT" dirty="0"/>
              <a:t> con i bug minimizzando la ridondanza tramite un approccio </a:t>
            </a:r>
            <a:r>
              <a:rPr lang="it-IT" b="1" dirty="0" err="1"/>
              <a:t>forward-search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3535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0F2A57-C5AD-5B3D-9E69-43E68E3F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Validazione </a:t>
            </a:r>
            <a:r>
              <a:rPr lang="it-IT" dirty="0" err="1"/>
              <a:t>Walk-Forward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17428D-BF17-2DB8-EABC-4ABF8AA8A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4674" cy="4351338"/>
          </a:xfrm>
        </p:spPr>
        <p:txBody>
          <a:bodyPr/>
          <a:lstStyle/>
          <a:p>
            <a:r>
              <a:rPr lang="it-IT" sz="1800" b="1" dirty="0"/>
              <a:t>Protocollo Temporale</a:t>
            </a:r>
            <a:r>
              <a:rPr lang="it-IT" sz="1800" dirty="0"/>
              <a:t>: il dataset non viene diviso casualmente, ma segue rigorosamente l’ordine cronologico delle release.</a:t>
            </a:r>
          </a:p>
          <a:p>
            <a:r>
              <a:rPr lang="it-IT" sz="1800" b="1" dirty="0"/>
              <a:t>Addestramento sequenziale</a:t>
            </a:r>
            <a:r>
              <a:rPr lang="it-IT" sz="1800" dirty="0"/>
              <a:t>: il modello viene addestrato sulle release passate per testare le performance esclusivamente sulla release successiva.</a:t>
            </a:r>
          </a:p>
          <a:p>
            <a:r>
              <a:rPr lang="it-IT" sz="1800" b="1" dirty="0"/>
              <a:t>Prevenzione del Data Leakage</a:t>
            </a:r>
            <a:r>
              <a:rPr lang="it-IT" sz="1800" dirty="0"/>
              <a:t>: Questo approccio evita di utilizzare informazioni «future per predire il passato, garantendo l’integrità </a:t>
            </a:r>
            <a:r>
              <a:rPr lang="it-IT" sz="1800" dirty="0" err="1"/>
              <a:t>scentifica</a:t>
            </a:r>
            <a:r>
              <a:rPr lang="it-IT" sz="1800" dirty="0"/>
              <a:t> dei risultati.</a:t>
            </a:r>
          </a:p>
          <a:p>
            <a:r>
              <a:rPr lang="it-IT" sz="1800" b="1" dirty="0"/>
              <a:t>Iterazioni</a:t>
            </a:r>
            <a:r>
              <a:rPr lang="it-IT" sz="1800" dirty="0"/>
              <a:t>: Il </a:t>
            </a:r>
            <a:r>
              <a:rPr lang="it-IT" sz="1800" dirty="0" err="1"/>
              <a:t>proceso</a:t>
            </a:r>
            <a:r>
              <a:rPr lang="it-IT" sz="1800" dirty="0"/>
              <a:t> è stato eseguito 10 volte, come previsto dalla letteratura di riferimento, per assicurare la stabilità delle metriche.</a:t>
            </a:r>
          </a:p>
          <a:p>
            <a:endParaRPr lang="it-IT" sz="1400" dirty="0"/>
          </a:p>
        </p:txBody>
      </p:sp>
      <p:pic>
        <p:nvPicPr>
          <p:cNvPr id="5" name="Immagine 4" descr="Immagine che contiene testo, quadrato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DE9AD507-438A-EDF2-1DB3-0AD5E09A7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616" y="2553665"/>
            <a:ext cx="3981329" cy="244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8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F5D1D-82FF-BA55-C50B-BA0CC83E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RQ1: Approccio Per-</a:t>
            </a:r>
            <a:r>
              <a:rPr lang="it-IT" dirty="0" err="1"/>
              <a:t>Fold</a:t>
            </a:r>
            <a:r>
              <a:rPr lang="it-IT" dirty="0"/>
              <a:t> vs Global</a:t>
            </a:r>
          </a:p>
        </p:txBody>
      </p:sp>
      <p:pic>
        <p:nvPicPr>
          <p:cNvPr id="6" name="Segnaposto contenuto 5" descr="Immagine che contiene testo, schermata, schermo, diagramma&#10;&#10;Il contenuto generato dall'IA potrebbe non essere corretto.">
            <a:extLst>
              <a:ext uri="{FF2B5EF4-FFF2-40B4-BE49-F238E27FC236}">
                <a16:creationId xmlns:a16="http://schemas.microsoft.com/office/drawing/2014/main" id="{3272585C-FB70-2662-3AEB-058424ACB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36" y="3302759"/>
            <a:ext cx="4995056" cy="2997034"/>
          </a:xfrm>
        </p:spPr>
      </p:pic>
      <p:pic>
        <p:nvPicPr>
          <p:cNvPr id="8" name="Immagine 7" descr="Immagine che contiene testo, schermata, schermo, diagramma&#10;&#10;Il contenuto generato dall'IA potrebbe non essere corretto.">
            <a:extLst>
              <a:ext uri="{FF2B5EF4-FFF2-40B4-BE49-F238E27FC236}">
                <a16:creationId xmlns:a16="http://schemas.microsoft.com/office/drawing/2014/main" id="{F33D9580-9C3C-732D-A420-ACFAD4298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55" y="3302759"/>
            <a:ext cx="4782410" cy="286944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8B8B46-12A5-2BB8-BB1D-1CDBA88B3ED4}"/>
              </a:ext>
            </a:extLst>
          </p:cNvPr>
          <p:cNvSpPr txBox="1"/>
          <p:nvPr/>
        </p:nvSpPr>
        <p:spPr>
          <a:xfrm>
            <a:off x="2470245" y="3009331"/>
            <a:ext cx="217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AB05B0C-B622-14FE-9B5B-85D0A5CE1BF5}"/>
              </a:ext>
            </a:extLst>
          </p:cNvPr>
          <p:cNvSpPr txBox="1"/>
          <p:nvPr/>
        </p:nvSpPr>
        <p:spPr>
          <a:xfrm>
            <a:off x="7144603" y="3009331"/>
            <a:ext cx="313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OpenJPA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540E8C-CD05-B526-163F-FA5FD6623D92}"/>
              </a:ext>
            </a:extLst>
          </p:cNvPr>
          <p:cNvSpPr txBox="1"/>
          <p:nvPr/>
        </p:nvSpPr>
        <p:spPr>
          <a:xfrm>
            <a:off x="2945716" y="1690688"/>
            <a:ext cx="6964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Le distribuzioni riportano l’AUC aggregata su tutti i modelli (3) e le strategie di campionamento (2).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8092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BEB465-5DE7-2788-6B86-0119A5C3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RQ1: Feature </a:t>
            </a:r>
            <a:r>
              <a:rPr lang="it-IT" dirty="0" err="1"/>
              <a:t>Selection</a:t>
            </a:r>
            <a:r>
              <a:rPr lang="it-IT" dirty="0"/>
              <a:t> e Sampling a confronto</a:t>
            </a:r>
          </a:p>
        </p:txBody>
      </p:sp>
      <p:pic>
        <p:nvPicPr>
          <p:cNvPr id="5" name="Segnaposto contenuto 4" descr="Immagine che contiene diagramma, testo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D6F406C9-9585-BC60-0829-03E3004B9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845" y="2672041"/>
            <a:ext cx="5257800" cy="3154679"/>
          </a:xfrm>
        </p:spPr>
      </p:pic>
      <p:pic>
        <p:nvPicPr>
          <p:cNvPr id="7" name="Immagine 6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FDDD8337-57BB-D5D8-EB1B-55A7348E2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84" y="2672041"/>
            <a:ext cx="5257800" cy="315468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F25A1F-E11C-7A05-6888-EAB9A734DEC8}"/>
              </a:ext>
            </a:extLst>
          </p:cNvPr>
          <p:cNvSpPr txBox="1"/>
          <p:nvPr/>
        </p:nvSpPr>
        <p:spPr>
          <a:xfrm>
            <a:off x="8282490" y="2302709"/>
            <a:ext cx="270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OpenJPA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7B1AE48-5B2B-1670-B113-87068D3219C1}"/>
              </a:ext>
            </a:extLst>
          </p:cNvPr>
          <p:cNvSpPr txBox="1"/>
          <p:nvPr/>
        </p:nvSpPr>
        <p:spPr>
          <a:xfrm>
            <a:off x="2286573" y="2404112"/>
            <a:ext cx="270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37CA40A-3180-2340-CC77-88A71BF5A76B}"/>
              </a:ext>
            </a:extLst>
          </p:cNvPr>
          <p:cNvSpPr txBox="1"/>
          <p:nvPr/>
        </p:nvSpPr>
        <p:spPr>
          <a:xfrm>
            <a:off x="3356225" y="1229023"/>
            <a:ext cx="4166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Distribuzioni AUC aggregate su tutti i modelli.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02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AA2B08-DE5D-91CC-2F9F-0EA49230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RQ1: Scelta del Modello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C7E705-3731-4930-E3EA-26541A7A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45524" cy="12382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Distribuzioni AUC per </a:t>
            </a:r>
            <a:r>
              <a:rPr lang="it-IT" dirty="0" err="1"/>
              <a:t>NoSelection</a:t>
            </a:r>
            <a:r>
              <a:rPr lang="it-IT" dirty="0"/>
              <a:t>, separate per classificatore.</a:t>
            </a:r>
            <a:br>
              <a:rPr lang="it-IT" dirty="0"/>
            </a:br>
            <a:endParaRPr lang="it-IT" dirty="0"/>
          </a:p>
        </p:txBody>
      </p:sp>
      <p:pic>
        <p:nvPicPr>
          <p:cNvPr id="5" name="Immagine 4" descr="Immagine che contiene diagramma, schermata, testo, Rettangolo&#10;&#10;Il contenuto generato dall'IA potrebbe non essere corretto.">
            <a:extLst>
              <a:ext uri="{FF2B5EF4-FFF2-40B4-BE49-F238E27FC236}">
                <a16:creationId xmlns:a16="http://schemas.microsoft.com/office/drawing/2014/main" id="{CBA108FB-2794-185D-F112-2833F2AAF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88" y="3554050"/>
            <a:ext cx="4745524" cy="2636402"/>
          </a:xfrm>
          <a:prstGeom prst="rect">
            <a:avLst/>
          </a:prstGeom>
        </p:spPr>
      </p:pic>
      <p:pic>
        <p:nvPicPr>
          <p:cNvPr id="7" name="Immagine 6" descr="Immagine che contiene testo, schermata, schermo, diagramma&#10;&#10;Il contenuto generato dall'IA potrebbe non essere corretto.">
            <a:extLst>
              <a:ext uri="{FF2B5EF4-FFF2-40B4-BE49-F238E27FC236}">
                <a16:creationId xmlns:a16="http://schemas.microsoft.com/office/drawing/2014/main" id="{08D59447-C239-6B7F-F2E8-106EB7EA6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096" y="3429000"/>
            <a:ext cx="5195704" cy="288650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98C90BC-61F8-B4D7-9F97-E5014078E3D3}"/>
              </a:ext>
            </a:extLst>
          </p:cNvPr>
          <p:cNvSpPr txBox="1"/>
          <p:nvPr/>
        </p:nvSpPr>
        <p:spPr>
          <a:xfrm>
            <a:off x="2367887" y="3125337"/>
            <a:ext cx="259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A8B7E1-DC4E-D329-AEF0-9396BC9FC7A1}"/>
              </a:ext>
            </a:extLst>
          </p:cNvPr>
          <p:cNvSpPr txBox="1"/>
          <p:nvPr/>
        </p:nvSpPr>
        <p:spPr>
          <a:xfrm>
            <a:off x="7042245" y="3063922"/>
            <a:ext cx="333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OpenJPA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8FAC749-4465-FB06-F05C-DC27743F8EB3}"/>
              </a:ext>
            </a:extLst>
          </p:cNvPr>
          <p:cNvSpPr txBox="1"/>
          <p:nvPr/>
        </p:nvSpPr>
        <p:spPr>
          <a:xfrm>
            <a:off x="66929" y="5026025"/>
            <a:ext cx="19929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AUC 0,6612</a:t>
            </a:r>
          </a:p>
          <a:p>
            <a:r>
              <a:rPr lang="it-IT" dirty="0"/>
              <a:t>Recall 0,5037</a:t>
            </a:r>
          </a:p>
          <a:p>
            <a:r>
              <a:rPr lang="it-IT" dirty="0"/>
              <a:t>Precision 0.4717</a:t>
            </a:r>
          </a:p>
          <a:p>
            <a:r>
              <a:rPr lang="it-IT" dirty="0"/>
              <a:t>F-</a:t>
            </a:r>
            <a:r>
              <a:rPr lang="it-IT" dirty="0" err="1"/>
              <a:t>measure</a:t>
            </a:r>
            <a:r>
              <a:rPr lang="it-IT" dirty="0"/>
              <a:t> 0,4605</a:t>
            </a:r>
          </a:p>
          <a:p>
            <a:r>
              <a:rPr lang="it-IT" dirty="0"/>
              <a:t>NPofB20 0,3018</a:t>
            </a:r>
          </a:p>
          <a:p>
            <a:r>
              <a:rPr lang="it-IT" dirty="0"/>
              <a:t>Kappa 0,2222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35AB831-EF34-87A9-E264-912F3E4CFF07}"/>
              </a:ext>
            </a:extLst>
          </p:cNvPr>
          <p:cNvSpPr txBox="1"/>
          <p:nvPr/>
        </p:nvSpPr>
        <p:spPr>
          <a:xfrm>
            <a:off x="8106770" y="5103674"/>
            <a:ext cx="31594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AUC 0,8309</a:t>
            </a:r>
          </a:p>
          <a:p>
            <a:r>
              <a:rPr lang="it-IT" dirty="0"/>
              <a:t>Precision 0,7642</a:t>
            </a:r>
          </a:p>
          <a:p>
            <a:r>
              <a:rPr lang="it-IT" dirty="0"/>
              <a:t>Recall 0,4822</a:t>
            </a:r>
          </a:p>
          <a:p>
            <a:r>
              <a:rPr lang="it-IT" dirty="0"/>
              <a:t>F-</a:t>
            </a:r>
            <a:r>
              <a:rPr lang="it-IT" dirty="0" err="1"/>
              <a:t>measure</a:t>
            </a:r>
            <a:r>
              <a:rPr lang="it-IT" dirty="0"/>
              <a:t> 0,5226</a:t>
            </a:r>
          </a:p>
          <a:p>
            <a:r>
              <a:rPr lang="it-IT" dirty="0"/>
              <a:t>Kappa 0,4461</a:t>
            </a:r>
          </a:p>
          <a:p>
            <a:r>
              <a:rPr lang="it-IT" dirty="0"/>
              <a:t>NPofB20 0,2708</a:t>
            </a:r>
          </a:p>
        </p:txBody>
      </p:sp>
    </p:spTree>
    <p:extLst>
      <p:ext uri="{BB962C8B-B14F-4D97-AF65-F5344CB8AC3E}">
        <p14:creationId xmlns:p14="http://schemas.microsoft.com/office/powerpoint/2010/main" val="231215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DEEE82-8E26-072E-FCE2-362509E8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RQ2: Correlazione feature vs </a:t>
            </a:r>
            <a:r>
              <a:rPr lang="it-IT" dirty="0" err="1"/>
              <a:t>Bugginess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757653-E342-7198-ABCF-5634136E3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75597" cy="4351338"/>
          </a:xfrm>
        </p:spPr>
        <p:txBody>
          <a:bodyPr/>
          <a:lstStyle/>
          <a:p>
            <a:pPr marL="0" indent="0">
              <a:buNone/>
            </a:pPr>
            <a:endParaRPr lang="it-IT" dirty="0"/>
          </a:p>
        </p:txBody>
      </p:sp>
      <p:pic>
        <p:nvPicPr>
          <p:cNvPr id="7" name="Immagine 6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3313ECCE-D5FC-5819-1401-0D8B4836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554" y="1764198"/>
            <a:ext cx="1856074" cy="4728677"/>
          </a:xfrm>
          <a:prstGeom prst="rect">
            <a:avLst/>
          </a:prstGeom>
        </p:spPr>
      </p:pic>
      <p:pic>
        <p:nvPicPr>
          <p:cNvPr id="9" name="Immagine 8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C84075F4-6549-3E8B-421C-F218AF40F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448" y="2347415"/>
            <a:ext cx="3204708" cy="414546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E3B71B-E3F9-9ACC-3CAC-38AFCAB37CC8}"/>
              </a:ext>
            </a:extLst>
          </p:cNvPr>
          <p:cNvSpPr txBox="1"/>
          <p:nvPr/>
        </p:nvSpPr>
        <p:spPr>
          <a:xfrm>
            <a:off x="4339989" y="2006221"/>
            <a:ext cx="226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5B03018-0CCF-06CE-1AFD-8BD07001B464}"/>
              </a:ext>
            </a:extLst>
          </p:cNvPr>
          <p:cNvSpPr txBox="1"/>
          <p:nvPr/>
        </p:nvSpPr>
        <p:spPr>
          <a:xfrm>
            <a:off x="8329827" y="1465053"/>
            <a:ext cx="226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Apache </a:t>
            </a:r>
            <a:r>
              <a:rPr lang="it-IT" dirty="0" err="1"/>
              <a:t>OpenJPA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1046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950ED1-6188-A1E3-ADBA-21D4BA3C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RQ2: Efficacia del </a:t>
            </a:r>
            <a:r>
              <a:rPr lang="it-IT" dirty="0" err="1"/>
              <a:t>Refactoring</a:t>
            </a:r>
            <a:r>
              <a:rPr lang="it-IT" dirty="0"/>
              <a:t>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A12A06-A096-56A6-5C51-29317B80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73" y="1549020"/>
            <a:ext cx="5139204" cy="4264926"/>
          </a:xfrm>
        </p:spPr>
        <p:txBody>
          <a:bodyPr>
            <a:normAutofit/>
          </a:bodyPr>
          <a:lstStyle/>
          <a:p>
            <a:r>
              <a:rPr lang="it-IT" sz="2000" b="1" dirty="0"/>
              <a:t>Intervento</a:t>
            </a:r>
            <a:r>
              <a:rPr lang="it-IT" sz="2000" dirty="0"/>
              <a:t>: Decomposizione tramite pattern </a:t>
            </a:r>
            <a:r>
              <a:rPr lang="it-IT" sz="2000" b="1" dirty="0" err="1"/>
              <a:t>Extract</a:t>
            </a:r>
            <a:r>
              <a:rPr lang="it-IT" sz="2000" b="1" dirty="0"/>
              <a:t> Method</a:t>
            </a:r>
            <a:r>
              <a:rPr lang="it-IT" sz="2000" dirty="0"/>
              <a:t> (144 LOC -&gt; 5 metodi)</a:t>
            </a:r>
          </a:p>
          <a:p>
            <a:r>
              <a:rPr lang="it-IT" sz="2000" b="1" dirty="0"/>
              <a:t>Risultato</a:t>
            </a:r>
            <a:r>
              <a:rPr lang="it-IT" sz="2000" dirty="0"/>
              <a:t>: Il modello ha invertito la predizione da BUGGY a </a:t>
            </a:r>
            <a:r>
              <a:rPr lang="it-IT" sz="2000" b="1" dirty="0"/>
              <a:t>CLEAN</a:t>
            </a:r>
            <a:r>
              <a:rPr lang="it-IT" sz="2000" dirty="0"/>
              <a:t> per tutti i nuovi metodi</a:t>
            </a:r>
          </a:p>
          <a:p>
            <a:r>
              <a:rPr lang="it-IT" sz="2000" b="1" dirty="0"/>
              <a:t>Driver del cambiamento</a:t>
            </a:r>
            <a:r>
              <a:rPr lang="it-IT" sz="2000" dirty="0"/>
              <a:t>: L’abbattimento drastico della </a:t>
            </a:r>
            <a:r>
              <a:rPr lang="it-IT" sz="2000" dirty="0" err="1"/>
              <a:t>comlessità</a:t>
            </a:r>
            <a:r>
              <a:rPr lang="it-IT" sz="2000" dirty="0"/>
              <a:t> </a:t>
            </a:r>
            <a:r>
              <a:rPr lang="it-IT" sz="2000" dirty="0" err="1"/>
              <a:t>ciclomatica</a:t>
            </a:r>
            <a:r>
              <a:rPr lang="it-IT" sz="2000" dirty="0"/>
              <a:t> (da 16 a 3) e dei Code </a:t>
            </a:r>
            <a:r>
              <a:rPr lang="it-IT" sz="2000" dirty="0" err="1"/>
              <a:t>Smells</a:t>
            </a:r>
            <a:r>
              <a:rPr lang="it-IT" sz="2000" dirty="0"/>
              <a:t> (da 17 a 3) insieme alla LOC hanno neutralizzato l’effetto negativo del </a:t>
            </a:r>
            <a:r>
              <a:rPr lang="it-IT" sz="2000" dirty="0" err="1"/>
              <a:t>Churn</a:t>
            </a:r>
            <a:r>
              <a:rPr lang="it-IT" sz="2000" dirty="0"/>
              <a:t> elevato dovuto alla </a:t>
            </a:r>
            <a:r>
              <a:rPr lang="it-IT" sz="2000" dirty="0" err="1"/>
              <a:t>risutrutturazione</a:t>
            </a:r>
            <a:r>
              <a:rPr lang="it-IT" sz="2000" dirty="0"/>
              <a:t> </a:t>
            </a:r>
          </a:p>
        </p:txBody>
      </p:sp>
      <p:pic>
        <p:nvPicPr>
          <p:cNvPr id="7" name="Immagine 6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23AE469B-5819-05DC-C2ED-D257FDED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722" y="2480961"/>
            <a:ext cx="5761251" cy="264184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64FC210-CB26-9BAE-CE24-12DFFF1D694D}"/>
              </a:ext>
            </a:extLst>
          </p:cNvPr>
          <p:cNvSpPr txBox="1"/>
          <p:nvPr/>
        </p:nvSpPr>
        <p:spPr>
          <a:xfrm>
            <a:off x="5635987" y="2035492"/>
            <a:ext cx="6064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org.apache.bookkeeper.benchmark.BenchThroughpu</a:t>
            </a:r>
            <a:r>
              <a:rPr lang="it-IT" sz="1400" dirty="0"/>
              <a:t> </a:t>
            </a:r>
            <a:r>
              <a:rPr lang="it-IT" sz="1400" dirty="0" err="1"/>
              <a:t>tLatency.main</a:t>
            </a: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[]) </a:t>
            </a:r>
          </a:p>
        </p:txBody>
      </p:sp>
    </p:spTree>
    <p:extLst>
      <p:ext uri="{BB962C8B-B14F-4D97-AF65-F5344CB8AC3E}">
        <p14:creationId xmlns:p14="http://schemas.microsoft.com/office/powerpoint/2010/main" val="2543551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52B2BB-ABBE-04A2-9970-EF03502A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RQ2: Efficacia del </a:t>
            </a:r>
            <a:r>
              <a:rPr lang="it-IT" dirty="0" err="1"/>
              <a:t>Refactoring</a:t>
            </a:r>
            <a:r>
              <a:rPr lang="it-IT" dirty="0"/>
              <a:t> </a:t>
            </a:r>
            <a:r>
              <a:rPr lang="it-IT" dirty="0" err="1"/>
              <a:t>OpenJPA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7A576-061B-F874-EE40-6F461A19F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0921" cy="4351338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Intervento: </a:t>
            </a:r>
            <a:r>
              <a:rPr lang="it-IT" dirty="0" err="1"/>
              <a:t>Refactoring</a:t>
            </a:r>
            <a:r>
              <a:rPr lang="it-IT" dirty="0"/>
              <a:t> tramite pattern </a:t>
            </a:r>
            <a:r>
              <a:rPr lang="it-IT" dirty="0" err="1"/>
              <a:t>Extract</a:t>
            </a:r>
            <a:r>
              <a:rPr lang="it-IT" dirty="0"/>
              <a:t> Method  (185 LOC -&gt; 15 metodi)</a:t>
            </a:r>
          </a:p>
          <a:p>
            <a:r>
              <a:rPr lang="it-IT" dirty="0"/>
              <a:t>Risultato: Compartimentazione del problema. 14 metodi su 15 sono diventati CLEAN, ma il metodo core è rimasto classificato come BUGGY</a:t>
            </a:r>
          </a:p>
          <a:p>
            <a:r>
              <a:rPr lang="it-IT" dirty="0"/>
              <a:t>Analisi del limite: Nonostante la pulizia del codice (LOC e Complessità ridotte), la turbolenza storica (Global </a:t>
            </a:r>
            <a:r>
              <a:rPr lang="it-IT" dirty="0" err="1"/>
              <a:t>Churn</a:t>
            </a:r>
            <a:r>
              <a:rPr lang="it-IT" dirty="0"/>
              <a:t>) e il volume di codice cancellato (</a:t>
            </a:r>
            <a:r>
              <a:rPr lang="it-IT" dirty="0" err="1"/>
              <a:t>Deleted</a:t>
            </a:r>
            <a:r>
              <a:rPr lang="it-IT" dirty="0"/>
              <a:t>) hanno mantenuto alta l’allerta del </a:t>
            </a:r>
            <a:r>
              <a:rPr lang="it-IT" dirty="0" err="1"/>
              <a:t>modelo</a:t>
            </a:r>
            <a:r>
              <a:rPr lang="it-IT" dirty="0"/>
              <a:t>, dimostrando che il rischio non dipende solo dalla forma attuale del codice ma anche dalla sua storia</a:t>
            </a:r>
          </a:p>
        </p:txBody>
      </p:sp>
      <p:pic>
        <p:nvPicPr>
          <p:cNvPr id="5" name="Immagine 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B4739C09-BB3D-0FDA-20B1-174F57B5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2370"/>
            <a:ext cx="5757081" cy="264184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664E72-B1A3-E4A3-276E-03D94393AD97}"/>
              </a:ext>
            </a:extLst>
          </p:cNvPr>
          <p:cNvSpPr txBox="1"/>
          <p:nvPr/>
        </p:nvSpPr>
        <p:spPr>
          <a:xfrm>
            <a:off x="6975508" y="1680612"/>
            <a:ext cx="4279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org.apache.openjpa.persistence.jdbc</a:t>
            </a:r>
            <a:r>
              <a:rPr lang="it-IT" sz="1400" dirty="0"/>
              <a:t>. </a:t>
            </a:r>
            <a:r>
              <a:rPr lang="it-IT" sz="1400" dirty="0" err="1"/>
              <a:t>AnnotationPersistenceMappingParser.parseMember</a:t>
            </a:r>
            <a:r>
              <a:rPr lang="it-IT" sz="1400" dirty="0"/>
              <a:t> </a:t>
            </a:r>
            <a:r>
              <a:rPr lang="it-IT" sz="1400" dirty="0" err="1"/>
              <a:t>MappingAnnotations</a:t>
            </a:r>
            <a:r>
              <a:rPr lang="it-IT" sz="1400" dirty="0"/>
              <a:t>(</a:t>
            </a:r>
            <a:r>
              <a:rPr lang="it-IT" sz="1400" dirty="0" err="1"/>
              <a:t>FieldMetaData</a:t>
            </a:r>
            <a:r>
              <a:rPr lang="it-IT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5030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58CA05-0687-6125-9540-EFC76FB3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RQ3 </a:t>
            </a:r>
            <a:r>
              <a:rPr lang="it-IT" dirty="0" err="1"/>
              <a:t>What-If</a:t>
            </a:r>
            <a:r>
              <a:rPr lang="it-IT" dirty="0"/>
              <a:t> Analysis No </a:t>
            </a:r>
            <a:r>
              <a:rPr lang="it-IT" dirty="0" err="1"/>
              <a:t>Smells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DA0D71-8592-CC18-62D6-3D05BC37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52"/>
            <a:ext cx="10591800" cy="923330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La rimozione dei Code </a:t>
            </a:r>
            <a:r>
              <a:rPr lang="it-IT" dirty="0" err="1"/>
              <a:t>Smell</a:t>
            </a:r>
            <a:r>
              <a:rPr lang="it-IT" dirty="0"/>
              <a:t> porta a una riduzione media della probabilità di bug del </a:t>
            </a:r>
            <a:r>
              <a:rPr lang="it-IT" b="1" dirty="0"/>
              <a:t>29%</a:t>
            </a: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043F2E6-139D-970E-2C1E-1FFE63C9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7"/>
          <a:stretch>
            <a:fillRect/>
          </a:stretch>
        </p:blipFill>
        <p:spPr>
          <a:xfrm>
            <a:off x="968149" y="3643400"/>
            <a:ext cx="4887611" cy="1121795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35A9B73-9C51-59FF-1C1E-3ADDA4EED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0"/>
          <a:stretch>
            <a:fillRect/>
          </a:stretch>
        </p:blipFill>
        <p:spPr>
          <a:xfrm>
            <a:off x="6726126" y="3643400"/>
            <a:ext cx="4703874" cy="108321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717CD5F-1493-C92B-C713-AB9CE4477F79}"/>
              </a:ext>
            </a:extLst>
          </p:cNvPr>
          <p:cNvSpPr txBox="1"/>
          <p:nvPr/>
        </p:nvSpPr>
        <p:spPr>
          <a:xfrm>
            <a:off x="968149" y="4981074"/>
            <a:ext cx="4686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804</a:t>
            </a:r>
            <a:r>
              <a:rPr lang="it-IT" dirty="0"/>
              <a:t> metodi riclassificati da </a:t>
            </a:r>
            <a:r>
              <a:rPr lang="it-IT" i="1" dirty="0"/>
              <a:t>Buggy</a:t>
            </a:r>
            <a:r>
              <a:rPr lang="it-IT" dirty="0"/>
              <a:t> a </a:t>
            </a:r>
            <a:r>
              <a:rPr lang="it-IT" i="1" dirty="0" err="1"/>
              <a:t>Clean</a:t>
            </a:r>
            <a:endParaRPr lang="it-IT" i="1" dirty="0"/>
          </a:p>
          <a:p>
            <a:r>
              <a:rPr lang="it-IT" dirty="0"/>
              <a:t>Riduzione della probabilità del </a:t>
            </a:r>
            <a:r>
              <a:rPr lang="it-IT" b="1" dirty="0"/>
              <a:t>29,18%</a:t>
            </a:r>
          </a:p>
          <a:p>
            <a:r>
              <a:rPr lang="it-IT" dirty="0"/>
              <a:t>Riduzione del rischio globale del </a:t>
            </a:r>
            <a:r>
              <a:rPr lang="it-IT" b="1" dirty="0"/>
              <a:t>11,84%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BA9B00A-85A2-496D-EC77-3AB41645BD5C}"/>
              </a:ext>
            </a:extLst>
          </p:cNvPr>
          <p:cNvSpPr txBox="1"/>
          <p:nvPr/>
        </p:nvSpPr>
        <p:spPr>
          <a:xfrm>
            <a:off x="6726126" y="4981074"/>
            <a:ext cx="4686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7056</a:t>
            </a:r>
            <a:r>
              <a:rPr lang="it-IT" dirty="0"/>
              <a:t> metodi riclassificati da </a:t>
            </a:r>
            <a:r>
              <a:rPr lang="it-IT" i="1" dirty="0"/>
              <a:t>Buggy</a:t>
            </a:r>
            <a:r>
              <a:rPr lang="it-IT" dirty="0"/>
              <a:t> a </a:t>
            </a:r>
            <a:r>
              <a:rPr lang="it-IT" i="1" dirty="0" err="1"/>
              <a:t>Clean</a:t>
            </a:r>
            <a:endParaRPr lang="it-IT" i="1" dirty="0"/>
          </a:p>
          <a:p>
            <a:r>
              <a:rPr lang="it-IT" dirty="0"/>
              <a:t>Riduzione della probabilità del </a:t>
            </a:r>
            <a:r>
              <a:rPr lang="it-IT" b="1" dirty="0"/>
              <a:t>28,51%</a:t>
            </a:r>
          </a:p>
          <a:p>
            <a:r>
              <a:rPr lang="it-IT" dirty="0"/>
              <a:t>Riduzione del rischio globale del </a:t>
            </a:r>
            <a:r>
              <a:rPr lang="it-IT" b="1" dirty="0"/>
              <a:t>13,16%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689514-C07C-D878-0D74-FD67FC66B663}"/>
              </a:ext>
            </a:extLst>
          </p:cNvPr>
          <p:cNvSpPr txBox="1"/>
          <p:nvPr/>
        </p:nvSpPr>
        <p:spPr>
          <a:xfrm>
            <a:off x="2311064" y="3244334"/>
            <a:ext cx="220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Apache </a:t>
            </a:r>
            <a:r>
              <a:rPr lang="it-IT" dirty="0" err="1"/>
              <a:t>Bookkeeper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9AAD132-75E1-A9DF-46F4-CD96E29C282E}"/>
              </a:ext>
            </a:extLst>
          </p:cNvPr>
          <p:cNvSpPr txBox="1"/>
          <p:nvPr/>
        </p:nvSpPr>
        <p:spPr>
          <a:xfrm>
            <a:off x="7977173" y="3244334"/>
            <a:ext cx="220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Apache </a:t>
            </a:r>
            <a:r>
              <a:rPr lang="it-IT" dirty="0" err="1"/>
              <a:t>OpenJPA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6173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637FD4-3CCB-33F7-382C-9A077731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Minacce alla validità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D88A28-941E-0813-2D57-F490D8949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Validità Interna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L’algoritmo SZZ è un algoritmo euristico</a:t>
            </a:r>
          </a:p>
          <a:p>
            <a:pPr lvl="1"/>
            <a:r>
              <a:rPr lang="it-IT" dirty="0"/>
              <a:t>Lo strumento di analisi statica PMD presenta un margine di errore intrinseco (5-10%)</a:t>
            </a:r>
          </a:p>
          <a:p>
            <a:r>
              <a:rPr lang="it-IT" b="1" dirty="0"/>
              <a:t>Validità Esterna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Selezione dei Progetti: Lo studio si concentra su due progetti dell’ecosistema Apache. I risultati potrebbero variare in contesti industriali differenti.</a:t>
            </a:r>
          </a:p>
          <a:p>
            <a:r>
              <a:rPr lang="it-IT" b="1" dirty="0"/>
              <a:t>Validità delle misurazioni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I dati e il </a:t>
            </a:r>
            <a:r>
              <a:rPr lang="it-IT" dirty="0" err="1"/>
              <a:t>labeling</a:t>
            </a:r>
            <a:r>
              <a:rPr lang="it-IT" dirty="0"/>
              <a:t> sono condizionati dalla qualità del tracciamento in </a:t>
            </a:r>
            <a:r>
              <a:rPr lang="it-IT" dirty="0" err="1"/>
              <a:t>Jira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8317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5B35BF-0E53-2A54-866E-1095A8C6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Lavori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D5CF7C-7B74-2332-6CCD-2444C017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Analisi Longitudinale Post-</a:t>
            </a:r>
            <a:r>
              <a:rPr lang="it-IT" dirty="0" err="1"/>
              <a:t>Refactoring</a:t>
            </a:r>
            <a:r>
              <a:rPr lang="it-IT" dirty="0"/>
              <a:t>: </a:t>
            </a:r>
            <a:br>
              <a:rPr lang="it-IT" dirty="0"/>
            </a:br>
            <a:r>
              <a:rPr lang="it-IT" sz="1800" dirty="0"/>
              <a:t>Monitorare l'evoluzione temporale dei metodi </a:t>
            </a:r>
            <a:r>
              <a:rPr lang="it-IT" sz="1800" dirty="0" err="1"/>
              <a:t>rifattorizzati</a:t>
            </a:r>
            <a:r>
              <a:rPr lang="it-IT" sz="1800" dirty="0"/>
              <a:t> per determinare il "tempo di assestamento" in cui il beneficio strutturale prevale sul rischio iniziale di </a:t>
            </a:r>
            <a:r>
              <a:rPr lang="it-IT" sz="1800" i="1" dirty="0" err="1"/>
              <a:t>churn</a:t>
            </a:r>
            <a:r>
              <a:rPr lang="it-IT" sz="1800" dirty="0"/>
              <a:t>.</a:t>
            </a:r>
          </a:p>
          <a:p>
            <a:r>
              <a:rPr lang="it-IT" dirty="0"/>
              <a:t>Integrazione nel processo di Sviluppo (CI/CD):</a:t>
            </a:r>
            <a:br>
              <a:rPr lang="it-IT" dirty="0"/>
            </a:br>
            <a:r>
              <a:rPr lang="it-IT" sz="2100" dirty="0"/>
              <a:t>Implementare il modello Random </a:t>
            </a:r>
            <a:r>
              <a:rPr lang="it-IT" sz="2100" dirty="0" err="1"/>
              <a:t>Forest</a:t>
            </a:r>
            <a:r>
              <a:rPr lang="it-IT" sz="2100" dirty="0"/>
              <a:t> nelle pipeline di </a:t>
            </a:r>
            <a:r>
              <a:rPr lang="it-IT" sz="2100" i="1" dirty="0" err="1"/>
              <a:t>Continuous</a:t>
            </a:r>
            <a:r>
              <a:rPr lang="it-IT" sz="2100" i="1" dirty="0"/>
              <a:t> Integration</a:t>
            </a:r>
            <a:r>
              <a:rPr lang="it-IT" sz="2100" dirty="0"/>
              <a:t> per fornire agli sviluppatori feedback in tempo reale sull'impatto delle modifiche strutturali.</a:t>
            </a:r>
            <a:endParaRPr lang="it-IT" dirty="0"/>
          </a:p>
          <a:p>
            <a:r>
              <a:rPr lang="it-IT" dirty="0"/>
              <a:t>Estensione della Validità Esterna:</a:t>
            </a:r>
            <a:br>
              <a:rPr lang="it-IT" dirty="0"/>
            </a:br>
            <a:r>
              <a:rPr lang="it-IT" sz="1900" dirty="0"/>
              <a:t>Replicare lo studio su un corpus eterogeneo di progetti software, estendendo l'analisi a sistemi scritti in linguaggi di programmazione diversi da Java.</a:t>
            </a:r>
            <a:endParaRPr lang="it-IT" dirty="0"/>
          </a:p>
          <a:p>
            <a:r>
              <a:rPr lang="it-IT" dirty="0" err="1"/>
              <a:t>Labeling</a:t>
            </a:r>
            <a:r>
              <a:rPr lang="it-IT" dirty="0"/>
              <a:t> Assistito da ML:</a:t>
            </a:r>
            <a:br>
              <a:rPr lang="it-IT" dirty="0"/>
            </a:br>
            <a:r>
              <a:rPr lang="it-IT" sz="1800" dirty="0"/>
              <a:t>Utilizzare tecniche di </a:t>
            </a:r>
            <a:r>
              <a:rPr lang="it-IT" sz="1800" i="1" dirty="0"/>
              <a:t>Natural Language Processing</a:t>
            </a:r>
            <a:r>
              <a:rPr lang="it-IT" sz="1800" dirty="0"/>
              <a:t> per analizzare semanticamente </a:t>
            </a:r>
            <a:r>
              <a:rPr lang="it-IT" sz="1800" dirty="0" err="1"/>
              <a:t>commit</a:t>
            </a:r>
            <a:r>
              <a:rPr lang="it-IT" sz="1800" dirty="0"/>
              <a:t> e ticket, migliorando la precisione dell'algoritmo SZZ nell'identificare la versione di iniezione dei bug.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5310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F2298C-8B33-F44B-F437-326C7A4E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B0C1E3-5191-B98B-AC7F-064FDDA7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07934D7-6D2C-AE26-7ADE-B0F88528E4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D34"/>
          </a:solidFill>
          <a:ln>
            <a:solidFill>
              <a:srgbClr val="007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 descr="Immagine che contiene testo, logo&#10;&#10;Descrizione generata automaticamente">
            <a:extLst>
              <a:ext uri="{FF2B5EF4-FFF2-40B4-BE49-F238E27FC236}">
                <a16:creationId xmlns:a16="http://schemas.microsoft.com/office/drawing/2014/main" id="{E4611417-74D3-E072-2FFF-B788CC57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3" y="2532611"/>
            <a:ext cx="7526694" cy="179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77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1487</Words>
  <Application>Microsoft Office PowerPoint</Application>
  <PresentationFormat>Widescreen</PresentationFormat>
  <Paragraphs>162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9" baseType="lpstr">
      <vt:lpstr>MS PGothic</vt:lpstr>
      <vt:lpstr>Aptos</vt:lpstr>
      <vt:lpstr>Aptos Display</vt:lpstr>
      <vt:lpstr>Arial</vt:lpstr>
      <vt:lpstr>Cambria Math</vt:lpstr>
      <vt:lpstr>Segoe UI Light</vt:lpstr>
      <vt:lpstr>Tema di Office</vt:lpstr>
      <vt:lpstr>Predicting Defects at the Method Level</vt:lpstr>
      <vt:lpstr>Indice</vt:lpstr>
      <vt:lpstr>Debito Tecnico e Granularità</vt:lpstr>
      <vt:lpstr>Le domande di ricerca</vt:lpstr>
      <vt:lpstr>ML pipeline</vt:lpstr>
      <vt:lpstr>Creazione del Dataset</vt:lpstr>
      <vt:lpstr>Labeling  e Propotion</vt:lpstr>
      <vt:lpstr>Snoring</vt:lpstr>
      <vt:lpstr>Le metriche raccolte</vt:lpstr>
      <vt:lpstr>Data Balancing</vt:lpstr>
      <vt:lpstr>Feature Selection</vt:lpstr>
      <vt:lpstr>Validazione Walk-Forward</vt:lpstr>
      <vt:lpstr>RQ1: Approccio Per-Fold vs Global</vt:lpstr>
      <vt:lpstr>RQ1: Feature Selection e Sampling a confronto</vt:lpstr>
      <vt:lpstr>RQ1: Scelta del Modello</vt:lpstr>
      <vt:lpstr>RQ2: Correlazione feature vs Bugginess</vt:lpstr>
      <vt:lpstr>RQ2: Efficacia del Refactoring Bookkeeper</vt:lpstr>
      <vt:lpstr>RQ2: Efficacia del Refactoring OpenJPA</vt:lpstr>
      <vt:lpstr>RQ3 What-If Analysis No Smells</vt:lpstr>
      <vt:lpstr>Minacce alla validità</vt:lpstr>
      <vt:lpstr>Lavori Futuri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simonelli</dc:creator>
  <cp:lastModifiedBy>flavio simonelli</cp:lastModifiedBy>
  <cp:revision>4</cp:revision>
  <dcterms:created xsi:type="dcterms:W3CDTF">2026-02-06T17:26:10Z</dcterms:created>
  <dcterms:modified xsi:type="dcterms:W3CDTF">2026-02-07T22:12:10Z</dcterms:modified>
</cp:coreProperties>
</file>