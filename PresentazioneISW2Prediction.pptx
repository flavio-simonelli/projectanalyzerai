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7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18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29.png" ContentType="image/png"/>
  <Override PartName="/ppt/media/image28.png" ContentType="image/png"/>
  <Override PartName="/ppt/media/image27.png" ContentType="image/png"/>
  <Override PartName="/ppt/media/image26.png" ContentType="image/png"/>
  <Override PartName="/ppt/media/image13.svg" ContentType="image/svg"/>
  <Override PartName="/ppt/media/image25.png" ContentType="image/png"/>
  <Override PartName="/ppt/media/image24.png" ContentType="image/png"/>
  <Override PartName="/ppt/media/image11.svg" ContentType="image/svg"/>
  <Override PartName="/ppt/media/image23.png" ContentType="image/png"/>
  <Override PartName="/ppt/media/image22.png" ContentType="image/png"/>
  <Override PartName="/ppt/media/image8.png" ContentType="image/png"/>
  <Override PartName="/ppt/media/image17.png" ContentType="image/png"/>
  <Override PartName="/ppt/media/image9.svg" ContentType="image/svg"/>
  <Override PartName="/ppt/media/image3.svg" ContentType="image/svg"/>
  <Override PartName="/ppt/media/image5.svg" ContentType="image/svg"/>
  <Override PartName="/ppt/media/image12.png" ContentType="image/png"/>
  <Override PartName="/ppt/media/image30.png" ContentType="image/png"/>
  <Override PartName="/ppt/media/image31.png" ContentType="image/png"/>
  <Override PartName="/ppt/media/image36.png" ContentType="image/png"/>
  <Override PartName="/ppt/media/image4.png" ContentType="image/png"/>
  <Override PartName="/ppt/media/image32.png" ContentType="image/png"/>
  <Override PartName="/ppt/media/image35.png" ContentType="image/png"/>
  <Override PartName="/ppt/media/image37.png" ContentType="image/png"/>
  <Override PartName="/ppt/media/image39.png" ContentType="image/png"/>
  <Override PartName="/ppt/media/image10.png" ContentType="image/png"/>
  <Override PartName="/ppt/media/image1.png" ContentType="image/png"/>
  <Override PartName="/ppt/media/image33.png" ContentType="image/png"/>
  <Override PartName="/ppt/media/image38.png" ContentType="image/png"/>
  <Override PartName="/ppt/media/image6.png" ContentType="image/png"/>
  <Override PartName="/ppt/media/image15.png" ContentType="image/png"/>
  <Override PartName="/ppt/media/image7.svg" ContentType="image/svg"/>
  <Override PartName="/ppt/media/image34.png" ContentType="image/png"/>
  <Override PartName="/ppt/media/image2.png" ContentType="image/png"/>
  <Override PartName="/ppt/media/image14.png" ContentType="image/png"/>
  <Override PartName="/ppt/media/image16.png" ContentType="image/png"/>
  <Override PartName="/ppt/media/image18.png" ContentType="image/png"/>
  <Override PartName="/ppt/media/image20.png" ContentType="image/png"/>
  <Override PartName="/ppt/media/image19.png" ContentType="image/png"/>
  <Override PartName="/ppt/media/image21.png" ContentType="image/png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_rels/notesSlide2.xml.rels" ContentType="application/vnd.openxmlformats-package.relationships+xml"/>
  <Override PartName="/ppt/notesSlides/notesSlide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4" r:id="rId3"/>
    <p:sldMasterId id="2147483656" r:id="rId4"/>
    <p:sldMasterId id="2147483658" r:id="rId5"/>
    <p:sldMasterId id="2147483668" r:id="rId6"/>
    <p:sldMasterId id="2147483670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6.xml"/><Relationship Id="rId4" Type="http://schemas.openxmlformats.org/officeDocument/2006/relationships/slideMaster" Target="slideMasters/slideMaster7.xml"/><Relationship Id="rId5" Type="http://schemas.openxmlformats.org/officeDocument/2006/relationships/slideMaster" Target="slideMasters/slideMaster8.xml"/><Relationship Id="rId6" Type="http://schemas.openxmlformats.org/officeDocument/2006/relationships/slideMaster" Target="slideMasters/slideMaster16.xml"/><Relationship Id="rId7" Type="http://schemas.openxmlformats.org/officeDocument/2006/relationships/slideMaster" Target="slideMasters/slideMaster17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8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it-IT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spostare la diapositiva</a:t>
            </a:r>
            <a:endParaRPr b="0" lang="it-IT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it-I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delle note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dt" idx="4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 type="ftr" idx="4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6"/>
          <p:cNvSpPr>
            <a:spLocks noGrp="1"/>
          </p:cNvSpPr>
          <p:nvPr>
            <p:ph type="sldNum" idx="4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E2111BF-6C1E-473F-B59A-84E31DED93E4}" type="slidenum"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3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DFFFE15-A9D9-46C6-A9FB-D1F96FD4EE42}" type="slidenum">
              <a:rPr b="0" lang="it-IT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&lt;numero&gt;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iapositiva tito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34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 titolo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1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B2F8F71-EB9A-46FC-AC4F-278FC50CC08C}" type="slidenum"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&lt;numero&gt;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2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&lt;data/ora&gt;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fini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34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 titolo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E02CD32-11D2-41DE-8F1C-C606F943DA32}" type="slidenum"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&lt;numero&gt;</a:t>
            </a:fld>
            <a:r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di </a:t>
            </a:r>
            <a:fld id="{96B7C6E5-F5A8-4D22-999B-CF6CA5CFD235}" type="slidecount"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&lt;conta&gt;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&lt;data/ora&gt;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000" cy="39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b="0" lang="it-IT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b="0" lang="it-I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finito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34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 titolo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0DF9E0C-319A-4B86-9626-7D252255DDD6}" type="slidenum"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&lt;numero&gt;</a:t>
            </a:fld>
            <a:r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di </a:t>
            </a:r>
            <a:fld id="{18A8A465-6372-4292-ACB9-462CC950A1D0}" type="slidecount"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&lt;conta&gt;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&lt;data/ora&gt;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000" cy="39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b="0" lang="it-IT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b="0" lang="it-I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finito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34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 titolo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7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F9B7F72-4FFC-4936-83C7-CE96AA06634D}" type="slidenum"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&lt;numero&gt;</a:t>
            </a:fld>
            <a:r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di </a:t>
            </a:r>
            <a:fld id="{1DAA69C9-C20C-4A27-9F40-FF41D972F4D4}" type="slidecount"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&lt;conta&gt;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8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&lt;data/ora&gt;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000" cy="39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b="0" lang="it-IT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b="0" lang="it-I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Predefinito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34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 titolo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FD70260-2250-4437-A4D1-724EEB76368F}" type="slidenum"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&lt;numero&gt;</a:t>
            </a:fld>
            <a:r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di </a:t>
            </a:r>
            <a:fld id="{AE41991E-ED69-4886-8FF1-ADEC7523FAC2}" type="slidecount"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&lt;conta&gt;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&lt;data/ora&gt;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000" cy="39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b="0" lang="it-IT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b="0" lang="it-I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838080" y="714600"/>
            <a:ext cx="105134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it-IT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it-IT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5E227801-8681-4DBF-90F1-43407CFE168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it-IT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8080" y="714600"/>
            <a:ext cx="105134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it-IT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it-IT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94305E25-10C8-455E-B403-40007CC0961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it-IT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olo e 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CasellaDiTesto 6"/>
          <p:cNvSpPr/>
          <p:nvPr/>
        </p:nvSpPr>
        <p:spPr>
          <a:xfrm>
            <a:off x="3508920" y="45360"/>
            <a:ext cx="52556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34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 titolo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137010C-A048-4C19-8E3C-EC919EB7B7F3}" type="slidenum"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&lt;numero&gt;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&lt;data/ora&gt;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finito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6"/>
          <p:cNvSpPr/>
          <p:nvPr/>
        </p:nvSpPr>
        <p:spPr>
          <a:xfrm>
            <a:off x="3508920" y="45360"/>
            <a:ext cx="52556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34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 titolo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19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7CA921-17F3-4F7C-9127-1FF2039E8445}" type="slidenum"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&lt;numero&gt;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dt" idx="20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&lt;data/ora&gt;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finito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CasellaDiTesto 6"/>
          <p:cNvSpPr/>
          <p:nvPr/>
        </p:nvSpPr>
        <p:spPr>
          <a:xfrm>
            <a:off x="3508920" y="45360"/>
            <a:ext cx="52556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34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 titolo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2F36388-2322-4144-BFBD-E78F33DE8526}" type="slidenum"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&lt;numero&gt;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&lt;data/ora&gt;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finito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CasellaDiTesto 6"/>
          <p:cNvSpPr/>
          <p:nvPr/>
        </p:nvSpPr>
        <p:spPr>
          <a:xfrm>
            <a:off x="3508920" y="45360"/>
            <a:ext cx="52556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34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 titolo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8C04EDD-6887-4884-9314-1D9457D87733}" type="slidenum"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&lt;numero&gt;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&lt;data/ora&gt;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finito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CasellaDiTesto 6"/>
          <p:cNvSpPr/>
          <p:nvPr/>
        </p:nvSpPr>
        <p:spPr>
          <a:xfrm>
            <a:off x="3508920" y="45360"/>
            <a:ext cx="52556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34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 titolo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sldNum" idx="25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0F51A01-984E-4FC7-8B53-9A375F1B342C}" type="slidenum"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&lt;numero&gt;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6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&lt;data/ora&gt;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finito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CasellaDiTesto 6"/>
          <p:cNvSpPr/>
          <p:nvPr/>
        </p:nvSpPr>
        <p:spPr>
          <a:xfrm>
            <a:off x="3508920" y="45360"/>
            <a:ext cx="52556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34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 titolo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DB1E26-3FA4-4DD5-992B-3662E1E3600F}" type="slidenum"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&lt;numero&gt;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&lt;data/ora&gt;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finito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CasellaDiTesto 6"/>
          <p:cNvSpPr/>
          <p:nvPr/>
        </p:nvSpPr>
        <p:spPr>
          <a:xfrm>
            <a:off x="3508920" y="45360"/>
            <a:ext cx="52556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34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 titolo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7F33F8E-BFFD-4EF6-BE7F-ECB215F0F2B7}" type="slidenum"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&lt;numero&gt;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&lt;data/ora&gt;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finito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CasellaDiTesto 6"/>
          <p:cNvSpPr/>
          <p:nvPr/>
        </p:nvSpPr>
        <p:spPr>
          <a:xfrm>
            <a:off x="3508920" y="45360"/>
            <a:ext cx="52556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34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 titolo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sldNum" idx="31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80F286E-31FF-407D-9C7C-C5DFBB3C14D4}" type="slidenum"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&lt;numero&gt;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dt" idx="32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&lt;data/ora&gt;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finito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CasellaDiTesto 6"/>
          <p:cNvSpPr/>
          <p:nvPr/>
        </p:nvSpPr>
        <p:spPr>
          <a:xfrm>
            <a:off x="3508920" y="45360"/>
            <a:ext cx="525564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34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 titolo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72EF6CC-CEAC-4E1A-8284-141ED2BC3B73}" type="slidenum"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&lt;numero&gt;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 type="dt" idx="34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&lt;data/ora&gt;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838080" y="714600"/>
            <a:ext cx="105134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it-IT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0360" cy="434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it-IT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/>
          </p:nvPr>
        </p:nvSpPr>
        <p:spPr>
          <a:xfrm>
            <a:off x="6225480" y="1825560"/>
            <a:ext cx="5130360" cy="434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it-IT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6"/>
          </p:nvPr>
        </p:nvSpPr>
        <p:spPr/>
        <p:txBody>
          <a:bodyPr/>
          <a:p>
            <a:fld id="{AC49B382-95E0-4757-BE41-3CF55FBF3F5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7"/>
          </p:nvPr>
        </p:nvSpPr>
        <p:spPr/>
        <p:txBody>
          <a:bodyPr/>
          <a:p>
            <a:r>
              <a:rPr lang="it-IT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838080" y="714600"/>
            <a:ext cx="105134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it-IT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0360" cy="434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it-IT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6225480" y="1825560"/>
            <a:ext cx="5130360" cy="434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it-IT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083A182E-A2E6-47B8-98B0-336CE0E3A8E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0"/>
          </p:nvPr>
        </p:nvSpPr>
        <p:spPr/>
        <p:txBody>
          <a:bodyPr/>
          <a:p>
            <a:r>
              <a:rPr lang="it-IT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3.xml"/><Relationship Id="rId8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6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17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1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838080" y="889560"/>
            <a:ext cx="105134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 titolo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 vert="eaVer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4028AC7-8953-48AA-AE74-B9665F50AC9A}" type="slidenum"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&lt;numero&gt;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&lt;data/ora&gt;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714600"/>
            <a:ext cx="10513440" cy="62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vert="eaVert">
            <a:noAutofit/>
          </a:bodyPr>
          <a:p>
            <a:pPr indent="0">
              <a:buNone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 titolo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 vert="eaVer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9F04A0C-C86F-4C40-BD21-E45EDDAAD153}" type="slidenum"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&lt;numero&gt;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&lt;data/ora&gt;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889560"/>
            <a:ext cx="105134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 titolo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360" cy="434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6225840" y="1825560"/>
            <a:ext cx="5130360" cy="434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ftr" idx="35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sldNum" idx="36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A9148A6-A6AF-4AE9-BA72-58B4CC20C0D0}" type="slidenum"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&lt;numero&gt;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dt" idx="37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&lt;data/ora&gt;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838080" y="889560"/>
            <a:ext cx="105134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 titolo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360" cy="434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6225840" y="1825560"/>
            <a:ext cx="5130360" cy="434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Fai clic per modificare il formato del testo della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Terzo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Quarto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Sesto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Settimo livello struttura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ftr" idx="38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&lt;piè di pagina&gt;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5"/>
          <p:cNvSpPr>
            <a:spLocks noGrp="1"/>
          </p:cNvSpPr>
          <p:nvPr>
            <p:ph type="sldNum" idx="39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001B58C-DD87-47B9-A15D-6FC686DAEADA}" type="slidenum"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&lt;numero&gt;</a:t>
            </a:fld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6"/>
          <p:cNvSpPr>
            <a:spLocks noGrp="1"/>
          </p:cNvSpPr>
          <p:nvPr>
            <p:ph type="dt" idx="40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&lt;data/ora&gt;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sv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6.png"/><Relationship Id="rId6" Type="http://schemas.openxmlformats.org/officeDocument/2006/relationships/image" Target="../media/image7.svg"/><Relationship Id="rId7" Type="http://schemas.openxmlformats.org/officeDocument/2006/relationships/image" Target="../media/image8.png"/><Relationship Id="rId8" Type="http://schemas.openxmlformats.org/officeDocument/2006/relationships/image" Target="../media/image9.svg"/><Relationship Id="rId9" Type="http://schemas.openxmlformats.org/officeDocument/2006/relationships/image" Target="../media/image10.png"/><Relationship Id="rId10" Type="http://schemas.openxmlformats.org/officeDocument/2006/relationships/image" Target="../media/image11.svg"/><Relationship Id="rId1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svg"/><Relationship Id="rId3" Type="http://schemas.openxmlformats.org/officeDocument/2006/relationships/image" Target="../media/image14.png"/><Relationship Id="rId4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png"/><Relationship Id="rId3" Type="http://schemas.openxmlformats.org/officeDocument/2006/relationships/slideLayout" Target="../slideLayouts/slideLayout16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png"/><Relationship Id="rId3" Type="http://schemas.openxmlformats.org/officeDocument/2006/relationships/slideLayout" Target="../slideLayouts/slideLayout16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slideLayout" Target="../slideLayouts/slideLayout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4.png"/><Relationship Id="rId3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4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4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38.png"/><Relationship Id="rId3" Type="http://schemas.openxmlformats.org/officeDocument/2006/relationships/slideLayout" Target="../slideLayouts/slideLayout4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slideLayout" Target="../slideLayouts/slideLayout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1523880" y="1538640"/>
            <a:ext cx="9141840" cy="2385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it-IT" sz="60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Predicting Defects at the Method Level</a:t>
            </a:r>
            <a:endParaRPr b="0" lang="it-IT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ubTitle"/>
          </p:nvPr>
        </p:nvSpPr>
        <p:spPr>
          <a:xfrm>
            <a:off x="1523880" y="4123080"/>
            <a:ext cx="9141840" cy="1653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it-IT" sz="2400" strike="noStrike" u="none">
                <a:solidFill>
                  <a:schemeClr val="accent6">
                    <a:lumMod val="75000"/>
                  </a:schemeClr>
                </a:solidFill>
                <a:effectLst/>
                <a:uFillTx/>
                <a:latin typeface="Inter Display"/>
              </a:rPr>
              <a:t>A Machine Learning &amp; ’’What-If’’ Analysis of </a:t>
            </a:r>
            <a:br>
              <a:rPr sz="2400"/>
            </a:br>
            <a:r>
              <a:rPr b="0" lang="it-IT" sz="2400" strike="noStrike" u="none">
                <a:solidFill>
                  <a:schemeClr val="accent6">
                    <a:lumMod val="75000"/>
                  </a:schemeClr>
                </a:solidFill>
                <a:effectLst/>
                <a:uFillTx/>
                <a:latin typeface="Inter Display"/>
              </a:rPr>
              <a:t>Apache Bookkeeper &amp; Apache OpenJPA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CasellaDiTesto 4"/>
          <p:cNvSpPr/>
          <p:nvPr/>
        </p:nvSpPr>
        <p:spPr>
          <a:xfrm>
            <a:off x="1479600" y="5721480"/>
            <a:ext cx="3198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Analysis by Flavio Simonelli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5" name="Immagine 5" descr="Immagine che contiene testo&#10;&#10;Descrizione generata automaticamente"/>
          <p:cNvPicPr/>
          <p:nvPr/>
        </p:nvPicPr>
        <p:blipFill>
          <a:blip r:embed="rId1"/>
          <a:stretch/>
        </p:blipFill>
        <p:spPr>
          <a:xfrm>
            <a:off x="8262720" y="148680"/>
            <a:ext cx="3618000" cy="860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CasellaDiTesto 10"/>
          <p:cNvSpPr/>
          <p:nvPr/>
        </p:nvSpPr>
        <p:spPr>
          <a:xfrm>
            <a:off x="7380000" y="5721480"/>
            <a:ext cx="3292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Ingegneria del Software 2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it-IT" sz="36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Indice</a:t>
            </a:r>
            <a:endParaRPr b="0" lang="it-IT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838080" y="1690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514440" indent="-514440" defTabSz="914400">
              <a:lnSpc>
                <a:spcPct val="100000"/>
              </a:lnSpc>
              <a:spcBef>
                <a:spcPts val="150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Introduzione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Il problema della manutenibilità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Le domande di ricerca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indent="-514440" defTabSz="914400">
              <a:lnSpc>
                <a:spcPct val="100000"/>
              </a:lnSpc>
              <a:spcBef>
                <a:spcPts val="150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Metodologia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Creazione dei Dataset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Addestramento e Inferenza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indent="-514440" defTabSz="914400">
              <a:lnSpc>
                <a:spcPct val="100000"/>
              </a:lnSpc>
              <a:spcBef>
                <a:spcPts val="150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Risultati e Analisi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Confronto dei modelli predittivi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Refactoring guidato dai dati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Analisi ‘‘What-If’’ no smells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indent="-514440" defTabSz="914400">
              <a:lnSpc>
                <a:spcPct val="100000"/>
              </a:lnSpc>
              <a:spcBef>
                <a:spcPts val="150"/>
              </a:spcBef>
              <a:buClr>
                <a:srgbClr val="000000"/>
              </a:buClr>
              <a:buFont typeface="OpenSymbol"/>
              <a:buAutoNum type="arabicPeriod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RoadMap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it-I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dt" idx="44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09/02/2025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EED31F6-208C-4B37-819B-2B2607A44D8E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it-IT" sz="36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Debito Tecnico e Granularità</a:t>
            </a:r>
            <a:endParaRPr b="0" lang="it-IT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4801680" cy="4349160"/>
          </a:xfrm>
          <a:prstGeom prst="rect">
            <a:avLst/>
          </a:prstGeom>
          <a:solidFill>
            <a:schemeClr val="lt2">
              <a:lumMod val="90000"/>
            </a:schemeClr>
          </a:solidFill>
          <a:ln cap="rnd" w="38160">
            <a:solidFill>
              <a:schemeClr val="lt2">
                <a:lumMod val="50000"/>
              </a:schemeClr>
            </a:solidFill>
            <a:beve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Analisi a Livello di Classe (Approccio Tradizionale)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it-IT" sz="2400" strike="noStrike" u="sng">
                <a:solidFill>
                  <a:schemeClr val="dk1"/>
                </a:solidFill>
                <a:effectLst/>
                <a:uFillTx/>
                <a:latin typeface="Inter Display"/>
              </a:rPr>
              <a:t>Eccessiva Rumorosità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 interi moduli segnalati come difettosi, rendono difficile l'isolamento delle cause.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it-IT" sz="2400" strike="noStrike" u="sng">
                <a:solidFill>
                  <a:schemeClr val="dk1"/>
                </a:solidFill>
                <a:effectLst/>
                <a:uFillTx/>
                <a:latin typeface="Inter Display"/>
              </a:rPr>
              <a:t>Bassa Azionabilità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 difficoltà nell'identificare il punto esatto dove intervenire con il refactoring.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it-I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egnaposto contenuto 2"/>
          <p:cNvSpPr/>
          <p:nvPr/>
        </p:nvSpPr>
        <p:spPr>
          <a:xfrm>
            <a:off x="6325560" y="1833120"/>
            <a:ext cx="4809240" cy="434916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cap="rnd" w="38160">
            <a:solidFill>
              <a:srgbClr val="196b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Analisi a Livello di Metodo (Approccio Proposto)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it-IT" sz="2400" strike="noStrike" u="sng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Granularità Mirata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: Identificazione chirurgica delle porzioni di codice prone ai bug.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it-IT" sz="2400" strike="noStrike" u="sng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Ottimizzazione del ROI (Return on Investiment)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: Focalizzazione degli sforzi di manutenzione solo sulle funzioni a più alto rischio.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it-I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09/02/2025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269460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it-IT" sz="1200" strike="noStrike" u="none">
                <a:solidFill>
                  <a:srgbClr val="127622"/>
                </a:solidFill>
                <a:effectLst/>
                <a:uFillTx/>
                <a:latin typeface="Inter Display"/>
                <a:ea typeface="DejaVu Sans"/>
              </a:rPr>
              <a:t>Introduzione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418392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Metodologia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561672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Risultati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693576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RoadMap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D6B8D57-28A7-4CAD-AB1B-C1024010652A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it-IT" sz="36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Le domande di ricerca</a:t>
            </a:r>
            <a:endParaRPr b="0" lang="it-IT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838080" y="158904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851"/>
              </a:spcBef>
              <a:spcAft>
                <a:spcPts val="850"/>
              </a:spcAft>
              <a:buClr>
                <a:srgbClr val="000000"/>
              </a:buClr>
              <a:buFont typeface="Arial"/>
              <a:buChar char="•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Noto Sans CJK SC"/>
              </a:rPr>
              <a:t>RQ1 (Valutazione dei Predittori): </a:t>
            </a:r>
            <a:br>
              <a:rPr sz="2400"/>
            </a:b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Noto Sans CJK SC"/>
              </a:rPr>
              <a:t>Quale classificatore presenta il grado di accuratezza superiore tra quelli analizzati?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851"/>
              </a:spcBef>
              <a:spcAft>
                <a:spcPts val="850"/>
              </a:spcAft>
              <a:buClr>
                <a:srgbClr val="000000"/>
              </a:buClr>
              <a:buFont typeface="Arial"/>
              <a:buChar char="•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Noto Sans CJK SC"/>
              </a:rPr>
              <a:t>RQ2 (Efficacia del Refactoring): </a:t>
            </a:r>
            <a:br>
              <a:rPr sz="2400"/>
            </a:b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Noto Sans CJK SC"/>
              </a:rPr>
              <a:t>In che misura l’intervento di refactoring sul metodo più critico (scelto in base alla metrica più correlata al bug nell’ultima release) ha influenzato le features correlate alla bugginess?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851"/>
              </a:spcBef>
              <a:spcAft>
                <a:spcPts val="850"/>
              </a:spcAft>
              <a:buClr>
                <a:srgbClr val="000000"/>
              </a:buClr>
              <a:buFont typeface="Arial"/>
              <a:buChar char="•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Noto Sans CJK SC"/>
              </a:rPr>
              <a:t>RQ3 (Analisi What-If): </a:t>
            </a:r>
            <a:br>
              <a:rPr sz="2400"/>
            </a:b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Noto Sans CJK SC"/>
              </a:rPr>
              <a:t>Quanti metodi difettosi sarebbero potuti essere evitati eliminando completamente gli smell di codice (scenario zero-smells)?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 type="dt" idx="46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09/02/2025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269496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it-IT" sz="1200" strike="noStrike" u="none">
                <a:solidFill>
                  <a:srgbClr val="127622"/>
                </a:solidFill>
                <a:effectLst/>
                <a:uFillTx/>
                <a:latin typeface="Inter Display"/>
                <a:ea typeface="DejaVu Sans"/>
              </a:rPr>
              <a:t>Introduzione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/>
          <p:nvPr/>
        </p:nvSpPr>
        <p:spPr>
          <a:xfrm>
            <a:off x="418428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Metodologia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561708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Risultati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>
            <a:off x="693612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RoadMap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989452F-A2F6-43A6-9F66-873F0125B5B3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it-IT" sz="36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ML pipeline</a:t>
            </a:r>
            <a:endParaRPr b="0" lang="it-IT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Rettangolo 3"/>
          <p:cNvSpPr/>
          <p:nvPr/>
        </p:nvSpPr>
        <p:spPr>
          <a:xfrm>
            <a:off x="838080" y="2538720"/>
            <a:ext cx="1513800" cy="1525680"/>
          </a:xfrm>
          <a:prstGeom prst="rect">
            <a:avLst/>
          </a:prstGeom>
          <a:noFill/>
          <a:ln w="38160">
            <a:solidFill>
              <a:srgbClr val="12762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chemeClr val="lt1"/>
              </a:solidFill>
              <a:effectLst/>
              <a:uFillTx/>
              <a:latin typeface="Aptos"/>
              <a:ea typeface="DejaVu Sans"/>
            </a:endParaRPr>
          </a:p>
        </p:txBody>
      </p:sp>
      <p:sp>
        <p:nvSpPr>
          <p:cNvPr id="127" name="Rettangolo 4"/>
          <p:cNvSpPr/>
          <p:nvPr/>
        </p:nvSpPr>
        <p:spPr>
          <a:xfrm>
            <a:off x="3003840" y="2538720"/>
            <a:ext cx="1513800" cy="1525680"/>
          </a:xfrm>
          <a:prstGeom prst="rect">
            <a:avLst/>
          </a:prstGeom>
          <a:noFill/>
          <a:ln w="38160">
            <a:solidFill>
              <a:srgbClr val="196b2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chemeClr val="lt1"/>
              </a:solidFill>
              <a:effectLst/>
              <a:uFillTx/>
              <a:latin typeface="Aptos"/>
              <a:ea typeface="DejaVu Sans"/>
            </a:endParaRPr>
          </a:p>
        </p:txBody>
      </p:sp>
      <p:sp>
        <p:nvSpPr>
          <p:cNvPr id="128" name="Rettangolo 5"/>
          <p:cNvSpPr/>
          <p:nvPr/>
        </p:nvSpPr>
        <p:spPr>
          <a:xfrm>
            <a:off x="5169600" y="2538720"/>
            <a:ext cx="1513800" cy="1525680"/>
          </a:xfrm>
          <a:prstGeom prst="rect">
            <a:avLst/>
          </a:prstGeom>
          <a:noFill/>
          <a:ln w="38160">
            <a:solidFill>
              <a:srgbClr val="196b2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chemeClr val="lt1"/>
              </a:solidFill>
              <a:effectLst/>
              <a:uFillTx/>
              <a:latin typeface="Aptos"/>
              <a:ea typeface="DejaVu Sans"/>
            </a:endParaRPr>
          </a:p>
        </p:txBody>
      </p:sp>
      <p:sp>
        <p:nvSpPr>
          <p:cNvPr id="129" name="Rettangolo 6"/>
          <p:cNvSpPr/>
          <p:nvPr/>
        </p:nvSpPr>
        <p:spPr>
          <a:xfrm>
            <a:off x="7335360" y="2538720"/>
            <a:ext cx="1513800" cy="1525680"/>
          </a:xfrm>
          <a:prstGeom prst="rect">
            <a:avLst/>
          </a:prstGeom>
          <a:noFill/>
          <a:ln w="38160">
            <a:solidFill>
              <a:srgbClr val="196b2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chemeClr val="lt1"/>
              </a:solidFill>
              <a:effectLst/>
              <a:uFillTx/>
              <a:latin typeface="Aptos"/>
              <a:ea typeface="DejaVu Sans"/>
            </a:endParaRPr>
          </a:p>
        </p:txBody>
      </p:sp>
      <p:sp>
        <p:nvSpPr>
          <p:cNvPr id="130" name="Rettangolo 7"/>
          <p:cNvSpPr/>
          <p:nvPr/>
        </p:nvSpPr>
        <p:spPr>
          <a:xfrm>
            <a:off x="9501120" y="2538720"/>
            <a:ext cx="1513800" cy="1525680"/>
          </a:xfrm>
          <a:prstGeom prst="rect">
            <a:avLst/>
          </a:prstGeom>
          <a:noFill/>
          <a:ln w="38160">
            <a:solidFill>
              <a:srgbClr val="196b2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chemeClr val="lt1"/>
              </a:solidFill>
              <a:effectLst/>
              <a:uFillTx/>
              <a:latin typeface="Aptos"/>
              <a:ea typeface="DejaVu Sans"/>
            </a:endParaRPr>
          </a:p>
        </p:txBody>
      </p:sp>
      <p:cxnSp>
        <p:nvCxnSpPr>
          <p:cNvPr id="131" name="Connettore 2 9"/>
          <p:cNvCxnSpPr>
            <a:stCxn id="126" idx="3"/>
            <a:endCxn id="127" idx="1"/>
          </p:cNvCxnSpPr>
          <p:nvPr/>
        </p:nvCxnSpPr>
        <p:spPr>
          <a:xfrm>
            <a:off x="2351880" y="3301560"/>
            <a:ext cx="652320" cy="360"/>
          </a:xfrm>
          <a:prstGeom prst="straightConnector1">
            <a:avLst/>
          </a:prstGeom>
          <a:ln w="47520">
            <a:solidFill>
              <a:srgbClr val="196b24"/>
            </a:solidFill>
            <a:miter/>
            <a:tailEnd len="sm" type="triangle" w="lg"/>
          </a:ln>
        </p:spPr>
      </p:cxnSp>
      <p:cxnSp>
        <p:nvCxnSpPr>
          <p:cNvPr id="132" name="Connettore 2 11"/>
          <p:cNvCxnSpPr>
            <a:stCxn id="127" idx="3"/>
            <a:endCxn id="128" idx="1"/>
          </p:cNvCxnSpPr>
          <p:nvPr/>
        </p:nvCxnSpPr>
        <p:spPr>
          <a:xfrm>
            <a:off x="4517640" y="3301560"/>
            <a:ext cx="652320" cy="360"/>
          </a:xfrm>
          <a:prstGeom prst="straightConnector1">
            <a:avLst/>
          </a:prstGeom>
          <a:ln w="47520">
            <a:solidFill>
              <a:srgbClr val="196b24"/>
            </a:solidFill>
            <a:miter/>
            <a:tailEnd len="sm" type="triangle" w="lg"/>
          </a:ln>
        </p:spPr>
      </p:cxnSp>
      <p:cxnSp>
        <p:nvCxnSpPr>
          <p:cNvPr id="133" name="Connettore 2 13"/>
          <p:cNvCxnSpPr>
            <a:stCxn id="128" idx="3"/>
            <a:endCxn id="129" idx="1"/>
          </p:cNvCxnSpPr>
          <p:nvPr/>
        </p:nvCxnSpPr>
        <p:spPr>
          <a:xfrm>
            <a:off x="6683400" y="3301560"/>
            <a:ext cx="652320" cy="360"/>
          </a:xfrm>
          <a:prstGeom prst="straightConnector1">
            <a:avLst/>
          </a:prstGeom>
          <a:ln w="47520">
            <a:solidFill>
              <a:srgbClr val="196b24"/>
            </a:solidFill>
            <a:miter/>
            <a:tailEnd len="sm" type="triangle" w="lg"/>
          </a:ln>
        </p:spPr>
      </p:cxnSp>
      <p:cxnSp>
        <p:nvCxnSpPr>
          <p:cNvPr id="134" name="Connettore 2 15"/>
          <p:cNvCxnSpPr>
            <a:stCxn id="129" idx="3"/>
            <a:endCxn id="130" idx="1"/>
          </p:cNvCxnSpPr>
          <p:nvPr/>
        </p:nvCxnSpPr>
        <p:spPr>
          <a:xfrm>
            <a:off x="8849160" y="3301560"/>
            <a:ext cx="652320" cy="360"/>
          </a:xfrm>
          <a:prstGeom prst="straightConnector1">
            <a:avLst/>
          </a:prstGeom>
          <a:ln w="47520">
            <a:solidFill>
              <a:srgbClr val="196b24"/>
            </a:solidFill>
            <a:miter/>
            <a:tailEnd len="sm" type="triangle" w="lg"/>
          </a:ln>
        </p:spPr>
      </p:cxnSp>
      <p:pic>
        <p:nvPicPr>
          <p:cNvPr id="135" name="Elemento grafico 17" descr="Database con riempimento a tinta unita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114920" y="2845440"/>
            <a:ext cx="912240" cy="912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6" name="Elemento grafico 21" descr="Etichetta con riempimento a tinta unita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280680" y="2845440"/>
            <a:ext cx="912240" cy="912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7" name="Elemento grafico 23" descr="Appunti parzialmente spuntanti con riempimento a tinta unita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630200" y="2845440"/>
            <a:ext cx="912240" cy="912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8" name="Elemento grafico 25" descr="Freccia linea: rotazione a destra con riempimento a tinta unita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9801720" y="2845440"/>
            <a:ext cx="912240" cy="91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" name="CasellaDiTesto 30"/>
          <p:cNvSpPr/>
          <p:nvPr/>
        </p:nvSpPr>
        <p:spPr>
          <a:xfrm>
            <a:off x="813960" y="4188960"/>
            <a:ext cx="15138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it-IT" sz="20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Extraction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CasellaDiTesto 31"/>
          <p:cNvSpPr/>
          <p:nvPr/>
        </p:nvSpPr>
        <p:spPr>
          <a:xfrm>
            <a:off x="2979720" y="4188960"/>
            <a:ext cx="15138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it-IT" sz="20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Labeling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CasellaDiTesto 32"/>
          <p:cNvSpPr/>
          <p:nvPr/>
        </p:nvSpPr>
        <p:spPr>
          <a:xfrm>
            <a:off x="5145480" y="4188960"/>
            <a:ext cx="15138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it-IT" sz="20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Snoring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CasellaDiTesto 33"/>
          <p:cNvSpPr/>
          <p:nvPr/>
        </p:nvSpPr>
        <p:spPr>
          <a:xfrm>
            <a:off x="7335360" y="4184280"/>
            <a:ext cx="151380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it-IT" sz="20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Feature</a:t>
            </a:r>
            <a:br>
              <a:rPr sz="1800"/>
            </a:br>
            <a:r>
              <a:rPr b="1" lang="it-IT" sz="20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Extraction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CasellaDiTesto 34"/>
          <p:cNvSpPr/>
          <p:nvPr/>
        </p:nvSpPr>
        <p:spPr>
          <a:xfrm>
            <a:off x="9500760" y="4188960"/>
            <a:ext cx="15138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it-IT" sz="20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Validation</a:t>
            </a:r>
            <a:endParaRPr b="0" lang="it-I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CasellaDiTesto 35"/>
          <p:cNvSpPr/>
          <p:nvPr/>
        </p:nvSpPr>
        <p:spPr>
          <a:xfrm>
            <a:off x="813960" y="4584240"/>
            <a:ext cx="15138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Jgit &amp; Jira API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Snapshot &amp;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Tickets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CasellaDiTesto 37"/>
          <p:cNvSpPr/>
          <p:nvPr/>
        </p:nvSpPr>
        <p:spPr>
          <a:xfrm>
            <a:off x="2955600" y="4624560"/>
            <a:ext cx="1513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 Proportion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CasellaDiTesto 38"/>
          <p:cNvSpPr/>
          <p:nvPr/>
        </p:nvSpPr>
        <p:spPr>
          <a:xfrm>
            <a:off x="7335360" y="4883760"/>
            <a:ext cx="15138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31 Metriche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(Statiche e Temporali)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CasellaDiTesto 39"/>
          <p:cNvSpPr/>
          <p:nvPr/>
        </p:nvSpPr>
        <p:spPr>
          <a:xfrm>
            <a:off x="9331920" y="4640400"/>
            <a:ext cx="20062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Walk-forward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Train sul passato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Test sul presente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8" name="Elemento grafico 41" descr="Pisolino con riempimento a tinta unita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5476320" y="2756160"/>
            <a:ext cx="912240" cy="91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CasellaDiTesto 42"/>
          <p:cNvSpPr/>
          <p:nvPr/>
        </p:nvSpPr>
        <p:spPr>
          <a:xfrm>
            <a:off x="5169600" y="4583520"/>
            <a:ext cx="15138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Taglio 66% delle release più recenti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dt" idx="47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09/02/2025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269496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Introduzione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/>
          <p:nvPr/>
        </p:nvSpPr>
        <p:spPr>
          <a:xfrm>
            <a:off x="418428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it-IT" sz="1200" strike="noStrike" u="none">
                <a:solidFill>
                  <a:srgbClr val="127622"/>
                </a:solidFill>
                <a:effectLst/>
                <a:uFillTx/>
                <a:latin typeface="Inter Display"/>
                <a:ea typeface="DejaVu Sans"/>
              </a:rPr>
              <a:t>Metodologia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561708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Risultati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>
            <a:off x="693612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RoadMap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E84B0D75-D291-4093-9186-331D0BB95C23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it-IT" sz="36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Creazione del Dataset</a:t>
            </a:r>
            <a:endParaRPr b="0" lang="it-IT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838080" y="1690200"/>
            <a:ext cx="10513440" cy="448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284"/>
              </a:spcBef>
              <a:spcAft>
                <a:spcPts val="567"/>
              </a:spcAft>
              <a:buClr>
                <a:srgbClr val="000000"/>
              </a:buClr>
              <a:buFont typeface="Arial"/>
              <a:buChar char="•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Noto Sans CJK SC"/>
              </a:rPr>
              <a:t>Progetti analizzati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Noto Sans CJK SC"/>
              </a:rPr>
              <a:t>: Apache Bookkeeper e OpenJPA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284"/>
              </a:spcBef>
              <a:spcAft>
                <a:spcPts val="567"/>
              </a:spcAft>
              <a:buClr>
                <a:srgbClr val="000000"/>
              </a:buClr>
              <a:buFont typeface="Arial"/>
              <a:buChar char="•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Noto Sans CJK SC"/>
              </a:rPr>
              <a:t>Selezione delle versioni 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782"/>
              </a:spcBef>
              <a:spcAft>
                <a:spcPts val="567"/>
              </a:spcAft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Noto Sans CJK SC"/>
              </a:rPr>
              <a:t>Le release ufficiali registrate su Jira fungono da punto di riferimento temporale primario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782"/>
              </a:spcBef>
              <a:spcAft>
                <a:spcPts val="567"/>
              </a:spcAft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Noto Sans CJK SC"/>
              </a:rPr>
              <a:t>Sono state eliminate le versioni indicate come non rilasciate o prive di data di rilascio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284"/>
              </a:spcBef>
              <a:spcAft>
                <a:spcPts val="567"/>
              </a:spcAft>
              <a:buClr>
                <a:srgbClr val="000000"/>
              </a:buClr>
              <a:buFont typeface="Arial"/>
              <a:buChar char="•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Noto Sans CJK SC"/>
              </a:rPr>
              <a:t>Estrazione dal Version Control 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782"/>
              </a:spcBef>
              <a:spcAft>
                <a:spcPts val="567"/>
              </a:spcAft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Noto Sans CJK SC"/>
              </a:rPr>
              <a:t>Per ogni release Jira, lo snapshot del sistema è stato ricostruito posizionandosi sull’ultimo commit effettuato entro la data di rilascio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it-I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7" name="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4667400" y="2190960"/>
            <a:ext cx="1257480" cy="528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8" name="" descr=""/>
          <p:cNvPicPr/>
          <p:nvPr/>
        </p:nvPicPr>
        <p:blipFill>
          <a:blip r:embed="rId3"/>
          <a:stretch/>
        </p:blipFill>
        <p:spPr>
          <a:xfrm>
            <a:off x="5585400" y="4461120"/>
            <a:ext cx="1131840" cy="471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PlaceHolder 3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09/02/2025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269532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Introduzione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418464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it-IT" sz="1200" strike="noStrike" u="none">
                <a:solidFill>
                  <a:srgbClr val="127622"/>
                </a:solidFill>
                <a:effectLst/>
                <a:uFillTx/>
                <a:latin typeface="Inter Display"/>
                <a:ea typeface="DejaVu Sans"/>
              </a:rPr>
              <a:t>Metodologia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561744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Risultati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/>
          <p:nvPr/>
        </p:nvSpPr>
        <p:spPr>
          <a:xfrm>
            <a:off x="693648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RoadMap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B1090206-BEB2-467F-9EBB-DEA04735B7F3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it-IT" sz="36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Labeling  e Proportion</a:t>
            </a:r>
            <a:endParaRPr b="0" lang="it-IT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CasellaDiTesto 6"/>
          <p:cNvSpPr/>
          <p:nvPr/>
        </p:nvSpPr>
        <p:spPr>
          <a:xfrm>
            <a:off x="7386840" y="3283200"/>
            <a:ext cx="3811680" cy="39780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it-IT" sz="1800" strike="noStrike" u="none">
                <a:solidFill>
                  <a:srgbClr val="ffffff">
                    <a:alpha val="1000"/>
                  </a:srgbClr>
                </a:solidFill>
                <a:effectLst/>
                <a:uFillTx/>
                <a:latin typeface="Aptos"/>
                <a:ea typeface="DejaVu Sans"/>
              </a:rPr>
              <a:t> 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CasellaDiTesto 7"/>
          <p:cNvSpPr/>
          <p:nvPr/>
        </p:nvSpPr>
        <p:spPr>
          <a:xfrm>
            <a:off x="8278560" y="3776400"/>
            <a:ext cx="1868760" cy="60876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it-IT" sz="1800" strike="noStrike" u="none">
                <a:solidFill>
                  <a:srgbClr val="ffffff">
                    <a:alpha val="1000"/>
                  </a:srgbClr>
                </a:solidFill>
                <a:effectLst/>
                <a:uFillTx/>
                <a:latin typeface="Aptos"/>
                <a:ea typeface="DejaVu Sans"/>
              </a:rPr>
              <a:t> 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7" name="Immagine 9" descr="Immagine che contiene testo, schermata, Carattere, numero&#10;&#10;Il contenuto generato dall'IA potrebbe non essere corretto."/>
          <p:cNvPicPr/>
          <p:nvPr/>
        </p:nvPicPr>
        <p:blipFill>
          <a:blip r:embed="rId3"/>
          <a:srcRect l="0" t="1801" r="0" b="0"/>
          <a:stretch/>
        </p:blipFill>
        <p:spPr>
          <a:xfrm>
            <a:off x="7277760" y="1402200"/>
            <a:ext cx="3965400" cy="127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CasellaDiTesto 10"/>
          <p:cNvSpPr/>
          <p:nvPr/>
        </p:nvSpPr>
        <p:spPr>
          <a:xfrm>
            <a:off x="7949520" y="1089720"/>
            <a:ext cx="2578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Apache OpenJPA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9" name="Immagine 12" descr="Immagine che contiene testo, schermata, Carattere, numero&#10;&#10;Il contenuto generato dall'IA potrebbe non essere corretto."/>
          <p:cNvPicPr/>
          <p:nvPr/>
        </p:nvPicPr>
        <p:blipFill>
          <a:blip r:embed="rId4"/>
          <a:srcRect l="0" t="1699" r="0" b="0"/>
          <a:stretch/>
        </p:blipFill>
        <p:spPr>
          <a:xfrm>
            <a:off x="7253640" y="4995360"/>
            <a:ext cx="3971520" cy="1291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0" name="CasellaDiTesto 13"/>
          <p:cNvSpPr/>
          <p:nvPr/>
        </p:nvSpPr>
        <p:spPr>
          <a:xfrm>
            <a:off x="7996320" y="4691520"/>
            <a:ext cx="2578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Apache Bookkeeper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>
            <a:off x="838080" y="1538640"/>
            <a:ext cx="6373440" cy="47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it-IT" sz="2200" strike="noStrike" u="none">
                <a:solidFill>
                  <a:srgbClr val="000000"/>
                </a:solidFill>
                <a:effectLst/>
                <a:uFillTx/>
                <a:latin typeface="Inter Display"/>
                <a:ea typeface="DejaVu Sans"/>
              </a:rPr>
              <a:t>Problema</a:t>
            </a:r>
            <a:r>
              <a:rPr b="0" lang="it-IT" sz="2200" strike="noStrike" u="none">
                <a:solidFill>
                  <a:srgbClr val="000000"/>
                </a:solidFill>
                <a:effectLst/>
                <a:uFillTx/>
                <a:latin typeface="Inter Display"/>
                <a:ea typeface="DejaVu Sans"/>
              </a:rPr>
              <a:t>: Molti ticket Jira riportano la Fixed Version (FV) ma mancano della Injected Version (IV).</a:t>
            </a:r>
            <a:endParaRPr b="0" lang="it-IT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it-IT" sz="2200" strike="noStrike" u="none">
                <a:solidFill>
                  <a:srgbClr val="000000"/>
                </a:solidFill>
                <a:effectLst/>
                <a:uFillTx/>
                <a:latin typeface="Inter Display"/>
                <a:ea typeface="DejaVu Sans"/>
              </a:rPr>
              <a:t>Soluzione</a:t>
            </a:r>
            <a:r>
              <a:rPr b="0" lang="it-IT" sz="2200" strike="noStrike" u="none">
                <a:solidFill>
                  <a:srgbClr val="000000"/>
                </a:solidFill>
                <a:effectLst/>
                <a:uFillTx/>
                <a:latin typeface="Inter Display"/>
                <a:ea typeface="DejaVu Sans"/>
              </a:rPr>
              <a:t>: Applicazione dell’euristica Proportion</a:t>
            </a:r>
            <a:endParaRPr b="0" lang="it-IT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it-IT" sz="2200" strike="noStrike" u="none">
                <a:solidFill>
                  <a:srgbClr val="000000"/>
                </a:solidFill>
                <a:effectLst/>
                <a:uFillTx/>
                <a:latin typeface="Inter Display"/>
                <a:ea typeface="DejaVu Sans"/>
              </a:rPr>
              <a:t>P (proportion factor)</a:t>
            </a:r>
            <a:r>
              <a:rPr b="0" lang="it-IT" sz="2200" strike="noStrike" u="none">
                <a:solidFill>
                  <a:srgbClr val="000000"/>
                </a:solidFill>
                <a:effectLst/>
                <a:uFillTx/>
                <a:latin typeface="Inter Display"/>
                <a:ea typeface="DejaVu Sans"/>
              </a:rPr>
              <a:t>: Calcolato con un approccio Moving Window (dimensione 1% Ticket con IV nota) basato sui ticket passati con IV nota.</a:t>
            </a:r>
            <a:endParaRPr b="0" lang="it-IT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it-IT" sz="2200" strike="noStrike" u="none">
                <a:solidFill>
                  <a:srgbClr val="000000"/>
                </a:solidFill>
                <a:effectLst/>
                <a:uFillTx/>
                <a:latin typeface="Inter Display"/>
                <a:ea typeface="DejaVu Sans"/>
              </a:rPr>
              <a:t>Fix-commit</a:t>
            </a:r>
            <a:r>
              <a:rPr b="0" lang="it-IT" sz="2200" strike="noStrike" u="none">
                <a:solidFill>
                  <a:srgbClr val="000000"/>
                </a:solidFill>
                <a:effectLst/>
                <a:uFillTx/>
                <a:latin typeface="Inter Display"/>
                <a:ea typeface="DejaVu Sans"/>
              </a:rPr>
              <a:t>: Identification dei commit di correzione tramite la ricerca dell’ID del ticket nei messaggi di commit.</a:t>
            </a:r>
            <a:endParaRPr b="0" lang="it-IT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it-IT" sz="2200" strike="noStrike" u="none">
                <a:solidFill>
                  <a:srgbClr val="000000"/>
                </a:solidFill>
                <a:effectLst/>
                <a:uFillTx/>
                <a:latin typeface="Inter Display"/>
                <a:ea typeface="DejaVu Sans"/>
              </a:rPr>
              <a:t>Labeling del Metodo</a:t>
            </a:r>
            <a:r>
              <a:rPr b="0" lang="it-IT" sz="2200" strike="noStrike" u="none">
                <a:solidFill>
                  <a:srgbClr val="000000"/>
                </a:solidFill>
                <a:effectLst/>
                <a:uFillTx/>
                <a:latin typeface="Inter Display"/>
                <a:ea typeface="DejaVu Sans"/>
              </a:rPr>
              <a:t>: Un metodo è etichettato come BUGGY in tutte le versioni comprese nell’intervallo  [IV,FV).</a:t>
            </a:r>
            <a:endParaRPr b="0" lang="it-IT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 type="dt" idx="49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09/02/2025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7497720" y="3036600"/>
            <a:ext cx="3700800" cy="3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Formule propotion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"/>
          <p:cNvSpPr/>
          <p:nvPr/>
        </p:nvSpPr>
        <p:spPr>
          <a:xfrm>
            <a:off x="269532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Introduzione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"/>
          <p:cNvSpPr/>
          <p:nvPr/>
        </p:nvSpPr>
        <p:spPr>
          <a:xfrm>
            <a:off x="418464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it-IT" sz="1200" strike="noStrike" u="none">
                <a:solidFill>
                  <a:srgbClr val="127622"/>
                </a:solidFill>
                <a:effectLst/>
                <a:uFillTx/>
                <a:latin typeface="Inter Display"/>
                <a:ea typeface="DejaVu Sans"/>
              </a:rPr>
              <a:t>Metodologia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/>
          <p:nvPr/>
        </p:nvSpPr>
        <p:spPr>
          <a:xfrm>
            <a:off x="561744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Risultati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"/>
          <p:cNvSpPr/>
          <p:nvPr/>
        </p:nvSpPr>
        <p:spPr>
          <a:xfrm>
            <a:off x="693648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RoadMap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B8FB32B-312D-45D9-92B4-7ACD8E2F6BC9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it-IT" sz="36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Snoring</a:t>
            </a:r>
            <a:endParaRPr b="0" lang="it-IT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6552000" cy="434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568"/>
              </a:spcBef>
              <a:spcAft>
                <a:spcPts val="567"/>
              </a:spcAft>
              <a:buClr>
                <a:srgbClr val="000000"/>
              </a:buClr>
              <a:buFont typeface="Arial"/>
              <a:buChar char="•"/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Taglio del Dataset</a:t>
            </a: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 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Per garantire l'integrità dei dati, è stato effettuato un taglio netto delle release finali.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568"/>
              </a:spcBef>
              <a:spcAft>
                <a:spcPts val="567"/>
              </a:spcAft>
              <a:buClr>
                <a:srgbClr val="000000"/>
              </a:buClr>
              <a:buFont typeface="Arial"/>
              <a:buChar char="•"/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Percentuale di scarto</a:t>
            </a: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 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È stato rimosso l'ultimo 66% delle release per entrambi i progetti (Bookkeeper 5 su 14 e OpenJPA 14 su 42).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568"/>
              </a:spcBef>
              <a:spcAft>
                <a:spcPts val="567"/>
              </a:spcAft>
              <a:buClr>
                <a:srgbClr val="000000"/>
              </a:buClr>
              <a:buFont typeface="Arial"/>
              <a:buChar char="•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Obiettivo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 Assicurare un intervallo di osservazione sufficientemente lungo affinché i bug latenti possano emergere ed essere etichettati correttamente.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0" name="Segnaposto contenuto 3" descr="Immagine che contiene disegno, schizzo, Arte bambini, arte&#10;&#10;Il contenuto generato dall'IA potrebbe non essere corretto."/>
          <p:cNvPicPr/>
          <p:nvPr/>
        </p:nvPicPr>
        <p:blipFill>
          <a:blip r:embed="rId1"/>
          <a:stretch/>
        </p:blipFill>
        <p:spPr>
          <a:xfrm>
            <a:off x="7742160" y="2065680"/>
            <a:ext cx="3534120" cy="263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CasellaDiTesto 4"/>
          <p:cNvSpPr/>
          <p:nvPr/>
        </p:nvSpPr>
        <p:spPr>
          <a:xfrm>
            <a:off x="7391880" y="4806360"/>
            <a:ext cx="425196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Il Survivorship Bias come metafora del Code Snoring. Le zone senza 'colpi' (bug) nelle release recenti sono spesso difettosità latenti non ancora rilevate.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 type="dt" idx="50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09/02/2025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269532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Introduzione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"/>
          <p:cNvSpPr/>
          <p:nvPr/>
        </p:nvSpPr>
        <p:spPr>
          <a:xfrm>
            <a:off x="418464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it-IT" sz="1200" strike="noStrike" u="none">
                <a:solidFill>
                  <a:srgbClr val="127622"/>
                </a:solidFill>
                <a:effectLst/>
                <a:uFillTx/>
                <a:latin typeface="Inter Display"/>
                <a:ea typeface="DejaVu Sans"/>
              </a:rPr>
              <a:t>Metodologia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"/>
          <p:cNvSpPr/>
          <p:nvPr/>
        </p:nvSpPr>
        <p:spPr>
          <a:xfrm>
            <a:off x="561744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Risultati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"/>
          <p:cNvSpPr/>
          <p:nvPr/>
        </p:nvSpPr>
        <p:spPr>
          <a:xfrm>
            <a:off x="693648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RoadMap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13B337D7-CFAB-4797-A65D-061AB12ADFC6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it-IT" sz="36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Le metriche raccolte</a:t>
            </a:r>
            <a:endParaRPr b="0" lang="it-IT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8" name="Segnaposto contenuto 4" descr="Immagine che contiene testo, schermata, numero, Carattere&#10;&#10;Il contenuto generato dall'IA potrebbe non essere corretto."/>
          <p:cNvPicPr/>
          <p:nvPr/>
        </p:nvPicPr>
        <p:blipFill>
          <a:blip r:embed="rId1"/>
          <a:srcRect l="0" t="453" r="0" b="0"/>
          <a:stretch/>
        </p:blipFill>
        <p:spPr>
          <a:xfrm>
            <a:off x="936000" y="1938960"/>
            <a:ext cx="8458560" cy="3354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9" name="CasellaDiTesto 5"/>
          <p:cNvSpPr/>
          <p:nvPr/>
        </p:nvSpPr>
        <p:spPr>
          <a:xfrm>
            <a:off x="960480" y="5593680"/>
            <a:ext cx="112978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Dimensioni temporali</a:t>
            </a: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: </a:t>
            </a:r>
            <a:r>
              <a:rPr b="1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Loc</a:t>
            </a: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 (Locale): Commit tra release corrente e precedente | </a:t>
            </a:r>
            <a:r>
              <a:rPr b="1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Glob</a:t>
            </a: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 (Globale): Storico dall'inserimento del metodo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Operatori di Aggregazione</a:t>
            </a: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: </a:t>
            </a:r>
            <a:r>
              <a:rPr b="1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Sum</a:t>
            </a: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: Somma | </a:t>
            </a:r>
            <a:r>
              <a:rPr b="1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Max</a:t>
            </a: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: Valore Massimo | </a:t>
            </a:r>
            <a:r>
              <a:rPr b="1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Avg</a:t>
            </a: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: Media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09/02/2025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269532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Introduzione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"/>
          <p:cNvSpPr/>
          <p:nvPr/>
        </p:nvSpPr>
        <p:spPr>
          <a:xfrm>
            <a:off x="418464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it-IT" sz="1200" strike="noStrike" u="none">
                <a:solidFill>
                  <a:srgbClr val="127622"/>
                </a:solidFill>
                <a:effectLst/>
                <a:uFillTx/>
                <a:latin typeface="Inter Display"/>
                <a:ea typeface="DejaVu Sans"/>
              </a:rPr>
              <a:t>Metodologia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>
            <a:off x="561744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Risultati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"/>
          <p:cNvSpPr/>
          <p:nvPr/>
        </p:nvSpPr>
        <p:spPr>
          <a:xfrm>
            <a:off x="693648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RoadMap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7F42823-FC3D-4A08-9407-1EBD217AA2DF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it-IT" sz="36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Data Balancing</a:t>
            </a:r>
            <a:endParaRPr b="0" lang="it-IT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6324480" cy="434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19999"/>
          </a:bodyPr>
          <a:p>
            <a:pPr marL="228600" indent="-228600" defTabSz="914400">
              <a:lnSpc>
                <a:spcPct val="11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Problema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 La natura dei Dataset software è intrinsecamente sbilanciata (poche istanze ‘Buggy’ rispetto a ‘Clean’).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Tecniche Applicate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115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sng">
                <a:solidFill>
                  <a:schemeClr val="dk1"/>
                </a:solidFill>
                <a:effectLst/>
                <a:uFillTx/>
                <a:latin typeface="Inter Display"/>
              </a:rPr>
              <a:t>SMOTE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 (Synthetic Minority Over-Sampling): Generazione di istanze sintetiche della classe minoritaria per il progetto Bookkeeper.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115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sng">
                <a:solidFill>
                  <a:schemeClr val="dk1"/>
                </a:solidFill>
                <a:effectLst/>
                <a:uFillTx/>
                <a:latin typeface="Inter Display"/>
              </a:rPr>
              <a:t>Under-sampling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 Riduzione casuale della classe maggioritaria per il progetto OpenJPA.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Obiettivo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 Prevenire il bias del classificatore verso la classe maggioritaria e massimizzare la Recall.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magine 7" descr="Immagine che contiene testo, Carattere, schermata, linea&#10;&#10;Il contenuto generato dall'IA potrebbe non essere corretto."/>
          <p:cNvPicPr/>
          <p:nvPr/>
        </p:nvPicPr>
        <p:blipFill>
          <a:blip r:embed="rId1"/>
          <a:stretch/>
        </p:blipFill>
        <p:spPr>
          <a:xfrm>
            <a:off x="7404840" y="2087640"/>
            <a:ext cx="4141080" cy="126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8" name="Immagine 11" descr="Immagine che contiene testo, Carattere, schermata, linea&#10;&#10;Il contenuto generato dall'IA potrebbe non essere corretto."/>
          <p:cNvPicPr/>
          <p:nvPr/>
        </p:nvPicPr>
        <p:blipFill>
          <a:blip r:embed="rId2"/>
          <a:stretch/>
        </p:blipFill>
        <p:spPr>
          <a:xfrm>
            <a:off x="7492680" y="4301640"/>
            <a:ext cx="4053240" cy="121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PlaceHolder 3"/>
          <p:cNvSpPr>
            <a:spLocks noGrp="1"/>
          </p:cNvSpPr>
          <p:nvPr>
            <p:ph type="dt" idx="52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09/02/2025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7517520" y="3264480"/>
            <a:ext cx="402840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Dataset originale senza applicazione di sampling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"/>
          <p:cNvSpPr/>
          <p:nvPr/>
        </p:nvSpPr>
        <p:spPr>
          <a:xfrm>
            <a:off x="7517520" y="5446440"/>
            <a:ext cx="402840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Dataset originale senza applicazione di sampling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"/>
          <p:cNvSpPr/>
          <p:nvPr/>
        </p:nvSpPr>
        <p:spPr>
          <a:xfrm>
            <a:off x="269532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Introduzione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"/>
          <p:cNvSpPr/>
          <p:nvPr/>
        </p:nvSpPr>
        <p:spPr>
          <a:xfrm>
            <a:off x="418464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it-IT" sz="1200" strike="noStrike" u="none">
                <a:solidFill>
                  <a:srgbClr val="127622"/>
                </a:solidFill>
                <a:effectLst/>
                <a:uFillTx/>
                <a:latin typeface="Inter Display"/>
                <a:ea typeface="DejaVu Sans"/>
              </a:rPr>
              <a:t>Metodologia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"/>
          <p:cNvSpPr/>
          <p:nvPr/>
        </p:nvSpPr>
        <p:spPr>
          <a:xfrm>
            <a:off x="561744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Risultati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"/>
          <p:cNvSpPr/>
          <p:nvPr/>
        </p:nvSpPr>
        <p:spPr>
          <a:xfrm>
            <a:off x="693648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RoadMap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A790CCDA-8B47-4913-BD36-A0ED98A9F909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it-IT" sz="36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Feature Selection</a:t>
            </a:r>
            <a:endParaRPr b="0" lang="it-IT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PlaceHolder 2"/>
          <p:cNvSpPr>
            <a:spLocks noGrp="1"/>
          </p:cNvSpPr>
          <p:nvPr>
            <p:ph/>
          </p:nvPr>
        </p:nvSpPr>
        <p:spPr>
          <a:xfrm>
            <a:off x="838080" y="1563120"/>
            <a:ext cx="10513440" cy="483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1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Global Feature Selection 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La selezione delle metriche viene eseguita una sola volta sull’intero dataset prima della validazione.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Introduce un “bias di selezione” perché l’algoritmo vede informazioni provenienti dai test futuri durante la scelta delle feature.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Walk-forward / Per-Fold Selection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La selezione viene ricalcolata dinamicamente ad ogni fold.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Utilizza esclusivamente i dati di training disponibili ad ogni iterazione.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Si adatta all’evoluzione del software, catturando come la rilevanza delle metriche cambi nel tempo.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Tecniche applicate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sng">
                <a:solidFill>
                  <a:schemeClr val="dk1"/>
                </a:solidFill>
                <a:effectLst/>
                <a:uFillTx/>
                <a:latin typeface="Inter Display"/>
              </a:rPr>
              <a:t>Ranking Filter (InfoGain)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 Valutazione del guadagno informativo per ogni singola metrica.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sng">
                <a:solidFill>
                  <a:schemeClr val="dk1"/>
                </a:solidFill>
                <a:effectLst/>
                <a:uFillTx/>
                <a:latin typeface="Inter Display"/>
              </a:rPr>
              <a:t>Subset Filter (BestFirst + CFS)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 Ricerca di sottoinsieme di feature che massimizzano la correlazione con i bug minimizzando la ridondanza tramite un approccio forward-search.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dt" idx="53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09/02/2025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269532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Introduzione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"/>
          <p:cNvSpPr/>
          <p:nvPr/>
        </p:nvSpPr>
        <p:spPr>
          <a:xfrm>
            <a:off x="418464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it-IT" sz="1200" strike="noStrike" u="none">
                <a:solidFill>
                  <a:srgbClr val="127622"/>
                </a:solidFill>
                <a:effectLst/>
                <a:uFillTx/>
                <a:latin typeface="Inter Display"/>
                <a:ea typeface="DejaVu Sans"/>
              </a:rPr>
              <a:t>Metodologia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"/>
          <p:cNvSpPr/>
          <p:nvPr/>
        </p:nvSpPr>
        <p:spPr>
          <a:xfrm>
            <a:off x="561744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Risultati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"/>
          <p:cNvSpPr/>
          <p:nvPr/>
        </p:nvSpPr>
        <p:spPr>
          <a:xfrm>
            <a:off x="693648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RoadMap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E98ED78-E0D0-4DB9-AFB6-897855E1FC31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it-IT" sz="36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Validazione Walk-Forward</a:t>
            </a:r>
            <a:endParaRPr b="0" lang="it-IT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/>
          </p:nvPr>
        </p:nvSpPr>
        <p:spPr>
          <a:xfrm>
            <a:off x="838080" y="1622160"/>
            <a:ext cx="7634880" cy="434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Protocollo Temporale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 il dataset non viene diviso casualmente, ma segue rigorosamente l’ordine cronologico delle release.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Addestramento sequenziale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 il modello viene addestrato sulle release passate per testare le performance esclusivamente sulla release corrente.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Prevenzione del Data Leakage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 evita di utilizzare informazioni future per predire il passato, garantendo l’integrità scientifica dei risultati.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Iterazioni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 il processo è stato eseguito 10 volte, come previsto dalla letteratura, per assicurare la stabilità delle metriche.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5" name="Immagine 4" descr="Immagine che contiene testo, quadrato, linea, numero&#10;&#10;Il contenuto generato dall'IA potrebbe non essere corretto."/>
          <p:cNvPicPr/>
          <p:nvPr/>
        </p:nvPicPr>
        <p:blipFill>
          <a:blip r:embed="rId1"/>
          <a:stretch/>
        </p:blipFill>
        <p:spPr>
          <a:xfrm>
            <a:off x="8474760" y="2601000"/>
            <a:ext cx="3041280" cy="1869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6" name="PlaceHolder 3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09/02/2025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269532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Introduzione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"/>
          <p:cNvSpPr/>
          <p:nvPr/>
        </p:nvSpPr>
        <p:spPr>
          <a:xfrm>
            <a:off x="418464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it-IT" sz="1200" strike="noStrike" u="none">
                <a:solidFill>
                  <a:srgbClr val="127622"/>
                </a:solidFill>
                <a:effectLst/>
                <a:uFillTx/>
                <a:latin typeface="Inter Display"/>
                <a:ea typeface="DejaVu Sans"/>
              </a:rPr>
              <a:t>Metodologia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561744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Risultati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"/>
          <p:cNvSpPr/>
          <p:nvPr/>
        </p:nvSpPr>
        <p:spPr>
          <a:xfrm>
            <a:off x="693648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RoadMap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1B37DA8-69F6-46C0-845B-07C3D8D1A1EC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"/>
          <p:cNvSpPr/>
          <p:nvPr/>
        </p:nvSpPr>
        <p:spPr>
          <a:xfrm>
            <a:off x="8018640" y="2100600"/>
            <a:ext cx="3035160" cy="3368880"/>
          </a:xfrm>
          <a:custGeom>
            <a:avLst/>
            <a:gdLst>
              <a:gd name="textAreaLeft" fmla="*/ 147960 w 3035160"/>
              <a:gd name="textAreaRight" fmla="*/ 2888640 w 3035160"/>
              <a:gd name="textAreaTop" fmla="*/ 147960 h 3368880"/>
              <a:gd name="textAreaBottom" fmla="*/ 3222360 h 3368880"/>
            </a:gdLst>
            <a:ahLst/>
            <a:cxnLst/>
            <a:rect l="textAreaLeft" t="textAreaTop" r="textAreaRight" b="textAreaBottom"/>
            <a:pathLst>
              <a:path w="21600" h="23974">
                <a:moveTo>
                  <a:pt x="3600" y="0"/>
                </a:moveTo>
                <a:arcTo wR="3600" hR="3600" stAng="16200000" swAng="-5400000"/>
                <a:lnTo>
                  <a:pt x="0" y="20374"/>
                </a:lnTo>
                <a:arcTo wR="3600" hR="3600" stAng="10800000" swAng="-5400000"/>
                <a:lnTo>
                  <a:pt x="18000" y="23974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ffffff"/>
          </a:solidFill>
          <a:ln w="36000">
            <a:solidFill>
              <a:srgbClr val="1276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00" rIns="108000" tIns="63000" bIns="63000" anchor="ctr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2" name=""/>
          <p:cNvSpPr/>
          <p:nvPr/>
        </p:nvSpPr>
        <p:spPr>
          <a:xfrm>
            <a:off x="4436640" y="2100600"/>
            <a:ext cx="3035160" cy="3368880"/>
          </a:xfrm>
          <a:custGeom>
            <a:avLst/>
            <a:gdLst>
              <a:gd name="textAreaLeft" fmla="*/ 147960 w 3035160"/>
              <a:gd name="textAreaRight" fmla="*/ 2888640 w 3035160"/>
              <a:gd name="textAreaTop" fmla="*/ 147960 h 3368880"/>
              <a:gd name="textAreaBottom" fmla="*/ 3222360 h 3368880"/>
            </a:gdLst>
            <a:ahLst/>
            <a:cxnLst/>
            <a:rect l="textAreaLeft" t="textAreaTop" r="textAreaRight" b="textAreaBottom"/>
            <a:pathLst>
              <a:path w="21600" h="23974">
                <a:moveTo>
                  <a:pt x="3600" y="0"/>
                </a:moveTo>
                <a:arcTo wR="3600" hR="3600" stAng="16200000" swAng="-5400000"/>
                <a:lnTo>
                  <a:pt x="0" y="20374"/>
                </a:lnTo>
                <a:arcTo wR="3600" hR="3600" stAng="10800000" swAng="-5400000"/>
                <a:lnTo>
                  <a:pt x="18000" y="23974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ffffff"/>
          </a:solidFill>
          <a:ln w="36000">
            <a:solidFill>
              <a:srgbClr val="1276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00" rIns="108000" tIns="63000" bIns="63000" anchor="ctr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3" name=""/>
          <p:cNvSpPr/>
          <p:nvPr/>
        </p:nvSpPr>
        <p:spPr>
          <a:xfrm>
            <a:off x="853200" y="2092320"/>
            <a:ext cx="3038040" cy="3362040"/>
          </a:xfrm>
          <a:custGeom>
            <a:avLst/>
            <a:gdLst>
              <a:gd name="textAreaLeft" fmla="*/ 148320 w 3038040"/>
              <a:gd name="textAreaRight" fmla="*/ 2891160 w 3038040"/>
              <a:gd name="textAreaTop" fmla="*/ 148320 h 3362040"/>
              <a:gd name="textAreaBottom" fmla="*/ 3215160 h 3362040"/>
            </a:gdLst>
            <a:ahLst/>
            <a:cxnLst/>
            <a:rect l="textAreaLeft" t="textAreaTop" r="textAreaRight" b="textAreaBottom"/>
            <a:pathLst>
              <a:path w="21600" h="23902">
                <a:moveTo>
                  <a:pt x="3600" y="0"/>
                </a:moveTo>
                <a:arcTo wR="3600" hR="3600" stAng="16200000" swAng="-5400000"/>
                <a:lnTo>
                  <a:pt x="0" y="20302"/>
                </a:lnTo>
                <a:arcTo wR="3600" hR="3600" stAng="10800000" swAng="-5400000"/>
                <a:lnTo>
                  <a:pt x="18000" y="23902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ffffff"/>
          </a:solidFill>
          <a:ln w="36000">
            <a:solidFill>
              <a:srgbClr val="1276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00" rIns="108000" tIns="63000" bIns="63000" anchor="ctr">
            <a:noAutofit/>
          </a:bodyPr>
          <a:p>
            <a:pPr>
              <a:lnSpc>
                <a:spcPct val="100000"/>
              </a:lnSpc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838080" y="749160"/>
            <a:ext cx="10513440" cy="55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-IT" sz="3600" strike="noStrike" u="none">
                <a:solidFill>
                  <a:srgbClr val="000000"/>
                </a:solidFill>
                <a:effectLst/>
                <a:uFillTx/>
                <a:latin typeface="Inter Display"/>
              </a:rPr>
              <a:t>Modelli considerati</a:t>
            </a:r>
            <a:endParaRPr b="0" lang="it-IT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5" name="" descr=""/>
          <p:cNvPicPr/>
          <p:nvPr/>
        </p:nvPicPr>
        <p:blipFill>
          <a:blip r:embed="rId1"/>
          <a:stretch/>
        </p:blipFill>
        <p:spPr>
          <a:xfrm>
            <a:off x="1093680" y="3288960"/>
            <a:ext cx="2545920" cy="1712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6" name="" descr=""/>
          <p:cNvPicPr/>
          <p:nvPr/>
        </p:nvPicPr>
        <p:blipFill>
          <a:blip r:embed="rId2"/>
          <a:stretch/>
        </p:blipFill>
        <p:spPr>
          <a:xfrm>
            <a:off x="4654080" y="3315600"/>
            <a:ext cx="2630520" cy="181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7" name="" descr=""/>
          <p:cNvPicPr/>
          <p:nvPr/>
        </p:nvPicPr>
        <p:blipFill>
          <a:blip r:embed="rId3"/>
          <a:stretch/>
        </p:blipFill>
        <p:spPr>
          <a:xfrm>
            <a:off x="8417880" y="3354120"/>
            <a:ext cx="2193840" cy="1756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8" name=""/>
          <p:cNvSpPr/>
          <p:nvPr/>
        </p:nvSpPr>
        <p:spPr>
          <a:xfrm>
            <a:off x="854640" y="2311920"/>
            <a:ext cx="3035160" cy="51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it-IT" sz="2400" strike="noStrike" u="none">
                <a:solidFill>
                  <a:srgbClr val="000000"/>
                </a:solidFill>
                <a:effectLst/>
                <a:uFillTx/>
                <a:latin typeface="Inter Display"/>
                <a:ea typeface="DejaVu Sans"/>
              </a:rPr>
              <a:t>Naive Bayes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"/>
          <p:cNvSpPr/>
          <p:nvPr/>
        </p:nvSpPr>
        <p:spPr>
          <a:xfrm>
            <a:off x="4436640" y="2287800"/>
            <a:ext cx="30351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it-IT" sz="2400" strike="noStrike" u="none">
                <a:solidFill>
                  <a:srgbClr val="000000"/>
                </a:solidFill>
                <a:effectLst/>
                <a:uFillTx/>
                <a:latin typeface="Inter Display"/>
                <a:ea typeface="DejaVu Sans"/>
              </a:rPr>
              <a:t>Random Forest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"/>
          <p:cNvSpPr/>
          <p:nvPr/>
        </p:nvSpPr>
        <p:spPr>
          <a:xfrm>
            <a:off x="8018640" y="2279880"/>
            <a:ext cx="303516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it-IT" sz="2400" strike="noStrike" u="none">
                <a:solidFill>
                  <a:srgbClr val="000000"/>
                </a:solidFill>
                <a:effectLst/>
                <a:uFillTx/>
                <a:latin typeface="Inter Display"/>
                <a:ea typeface="DejaVu Sans"/>
              </a:rPr>
              <a:t>IBk  (K-NN)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"/>
          <p:cNvSpPr/>
          <p:nvPr/>
        </p:nvSpPr>
        <p:spPr>
          <a:xfrm>
            <a:off x="269532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Introduzione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"/>
          <p:cNvSpPr/>
          <p:nvPr/>
        </p:nvSpPr>
        <p:spPr>
          <a:xfrm>
            <a:off x="418464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it-IT" sz="1200" strike="noStrike" u="none">
                <a:solidFill>
                  <a:srgbClr val="127622"/>
                </a:solidFill>
                <a:effectLst/>
                <a:uFillTx/>
                <a:latin typeface="Inter Display"/>
                <a:ea typeface="DejaVu Sans"/>
              </a:rPr>
              <a:t>Metodologia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"/>
          <p:cNvSpPr/>
          <p:nvPr/>
        </p:nvSpPr>
        <p:spPr>
          <a:xfrm>
            <a:off x="561744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Risultati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"/>
          <p:cNvSpPr/>
          <p:nvPr/>
        </p:nvSpPr>
        <p:spPr>
          <a:xfrm>
            <a:off x="693648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RoadMap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4"/>
          <p:cNvSpPr/>
          <p:nvPr/>
        </p:nvSpPr>
        <p:spPr>
          <a:xfrm>
            <a:off x="838440" y="6356880"/>
            <a:ext cx="274104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  <a:ea typeface="DejaVu Sans"/>
              </a:rPr>
              <a:t>09/02/2025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51229F2-27FD-4027-9787-A635AB46D7FF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it-IT" sz="36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RQ1: Approccio Per-Fold vs Global</a:t>
            </a:r>
            <a:endParaRPr b="0" lang="it-IT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7" name="Segnaposto contenuto 5" descr="Immagine che contiene testo, schermata, schermo, diagramma&#10;&#10;Il contenuto generato dall'IA potrebbe non essere corretto."/>
          <p:cNvPicPr/>
          <p:nvPr/>
        </p:nvPicPr>
        <p:blipFill>
          <a:blip r:embed="rId1"/>
          <a:stretch/>
        </p:blipFill>
        <p:spPr>
          <a:xfrm>
            <a:off x="6207120" y="2667600"/>
            <a:ext cx="4992840" cy="2994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8" name="Immagine 7" descr="Immagine che contiene testo, schermata, schermo, diagramma&#10;&#10;Il contenuto generato dall'IA potrebbe non essere corretto."/>
          <p:cNvPicPr/>
          <p:nvPr/>
        </p:nvPicPr>
        <p:blipFill>
          <a:blip r:embed="rId2"/>
          <a:stretch/>
        </p:blipFill>
        <p:spPr>
          <a:xfrm>
            <a:off x="679320" y="2732760"/>
            <a:ext cx="4992480" cy="2994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" name="CasellaDiTesto 8"/>
          <p:cNvSpPr/>
          <p:nvPr/>
        </p:nvSpPr>
        <p:spPr>
          <a:xfrm>
            <a:off x="1982160" y="2449440"/>
            <a:ext cx="2501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Apache Bookkeeper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CasellaDiTesto 9"/>
          <p:cNvSpPr/>
          <p:nvPr/>
        </p:nvSpPr>
        <p:spPr>
          <a:xfrm>
            <a:off x="7226280" y="2447640"/>
            <a:ext cx="3136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Apache OpenJPA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CasellaDiTesto 10"/>
          <p:cNvSpPr/>
          <p:nvPr/>
        </p:nvSpPr>
        <p:spPr>
          <a:xfrm>
            <a:off x="1774800" y="5785560"/>
            <a:ext cx="9004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Le distribuzioni riportano l’AUC aggregata su tutti i modelli (3) e le strategie di campionamento (2).</a:t>
            </a:r>
            <a:br>
              <a:rPr sz="1400"/>
            </a:b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PlaceHolder 2"/>
          <p:cNvSpPr>
            <a:spLocks noGrp="1"/>
          </p:cNvSpPr>
          <p:nvPr>
            <p:ph type="dt" idx="55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09/02/2025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960480" y="1441080"/>
            <a:ext cx="10435320" cy="82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it-IT" sz="2400" strike="noStrike" u="none">
                <a:solidFill>
                  <a:srgbClr val="000000"/>
                </a:solidFill>
                <a:effectLst/>
                <a:uFillTx/>
                <a:latin typeface="Inter Display"/>
                <a:ea typeface="DejaVu Sans"/>
              </a:rPr>
              <a:t>Bookkeeper</a:t>
            </a:r>
            <a:r>
              <a:rPr b="0" lang="it-IT" sz="2400" strike="noStrike" u="none">
                <a:solidFill>
                  <a:srgbClr val="000000"/>
                </a:solidFill>
                <a:effectLst/>
                <a:uFillTx/>
                <a:latin typeface="Inter Display"/>
                <a:ea typeface="DejaVu Sans"/>
              </a:rPr>
              <a:t>: Vantaggio della selezione locale.</a:t>
            </a:r>
            <a:br>
              <a:rPr sz="2400"/>
            </a:br>
            <a:r>
              <a:rPr b="1" lang="it-IT" sz="2400" strike="noStrike" u="none">
                <a:solidFill>
                  <a:srgbClr val="000000"/>
                </a:solidFill>
                <a:effectLst/>
                <a:uFillTx/>
                <a:latin typeface="Inter Display"/>
                <a:ea typeface="DejaVu Sans"/>
              </a:rPr>
              <a:t>OpenJPA</a:t>
            </a:r>
            <a:r>
              <a:rPr b="0" lang="it-IT" sz="2400" strike="noStrike" u="none">
                <a:solidFill>
                  <a:srgbClr val="000000"/>
                </a:solidFill>
                <a:effectLst/>
                <a:uFillTx/>
                <a:latin typeface="Inter Display"/>
                <a:ea typeface="DejaVu Sans"/>
              </a:rPr>
              <a:t>: Impatto del bias di selezione teorico.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"/>
          <p:cNvSpPr/>
          <p:nvPr/>
        </p:nvSpPr>
        <p:spPr>
          <a:xfrm>
            <a:off x="269532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Introduzione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"/>
          <p:cNvSpPr/>
          <p:nvPr/>
        </p:nvSpPr>
        <p:spPr>
          <a:xfrm>
            <a:off x="418464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Metodologia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"/>
          <p:cNvSpPr/>
          <p:nvPr/>
        </p:nvSpPr>
        <p:spPr>
          <a:xfrm>
            <a:off x="561744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it-IT" sz="1200" strike="noStrike" u="none">
                <a:solidFill>
                  <a:srgbClr val="127622"/>
                </a:solidFill>
                <a:effectLst/>
                <a:uFillTx/>
                <a:latin typeface="Inter Display"/>
                <a:ea typeface="DejaVu Sans"/>
              </a:rPr>
              <a:t>Risultati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"/>
          <p:cNvSpPr/>
          <p:nvPr/>
        </p:nvSpPr>
        <p:spPr>
          <a:xfrm>
            <a:off x="693648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RoadMap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416B9FA-5A0E-4366-820E-129A5AEAECDA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829800" y="37296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it-IT" sz="36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RQ1: Feature Selection e Sampling a confronto</a:t>
            </a:r>
            <a:endParaRPr b="0" lang="it-IT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9" name="Segnaposto contenuto 4" descr="Immagine che contiene diagramma, testo, Piano, schermata&#10;&#10;Il contenuto generato dall'IA potrebbe non essere corretto."/>
          <p:cNvPicPr/>
          <p:nvPr/>
        </p:nvPicPr>
        <p:blipFill>
          <a:blip r:embed="rId1"/>
          <a:stretch/>
        </p:blipFill>
        <p:spPr>
          <a:xfrm>
            <a:off x="6117840" y="2655720"/>
            <a:ext cx="5255640" cy="3152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0" name="Immagine 6" descr="Immagine che contiene testo, diagramma, schermata, Piano&#10;&#10;Il contenuto generato dall'IA potrebbe non essere corretto."/>
          <p:cNvPicPr/>
          <p:nvPr/>
        </p:nvPicPr>
        <p:blipFill>
          <a:blip r:embed="rId2"/>
          <a:stretch/>
        </p:blipFill>
        <p:spPr>
          <a:xfrm>
            <a:off x="687960" y="2671920"/>
            <a:ext cx="5255640" cy="315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CasellaDiTesto 7"/>
          <p:cNvSpPr/>
          <p:nvPr/>
        </p:nvSpPr>
        <p:spPr>
          <a:xfrm>
            <a:off x="7508880" y="2425320"/>
            <a:ext cx="2706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Apache OpenJPA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CasellaDiTesto 8"/>
          <p:cNvSpPr/>
          <p:nvPr/>
        </p:nvSpPr>
        <p:spPr>
          <a:xfrm>
            <a:off x="2115720" y="2404080"/>
            <a:ext cx="2706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Apache Bookkeeper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CasellaDiTesto 9"/>
          <p:cNvSpPr/>
          <p:nvPr/>
        </p:nvSpPr>
        <p:spPr>
          <a:xfrm>
            <a:off x="4146120" y="5826240"/>
            <a:ext cx="41648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Aptos"/>
                <a:ea typeface="DejaVu Sans"/>
              </a:rPr>
              <a:t>Distribuzioni AUC aggregate su tutti i modelli.</a:t>
            </a:r>
            <a:br>
              <a:rPr sz="1400"/>
            </a:b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 type="dt" idx="56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09/02/2025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936000" y="1497960"/>
            <a:ext cx="1030536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it-IT" sz="2400" strike="noStrike" u="none">
                <a:solidFill>
                  <a:srgbClr val="000000"/>
                </a:solidFill>
                <a:effectLst/>
                <a:uFillTx/>
                <a:latin typeface="Inter Display"/>
                <a:ea typeface="DejaVu Sans"/>
              </a:rPr>
              <a:t>No Selection</a:t>
            </a:r>
            <a:r>
              <a:rPr b="0" lang="it-IT" sz="2400" strike="noStrike" u="none">
                <a:solidFill>
                  <a:srgbClr val="000000"/>
                </a:solidFill>
                <a:effectLst/>
                <a:uFillTx/>
                <a:latin typeface="Inter Display"/>
                <a:ea typeface="DejaVu Sans"/>
              </a:rPr>
              <a:t>: L'integrità del dataset originale ha dimostrato performance superiori e una minore varianza nelle predizioni.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it-IT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"/>
          <p:cNvSpPr/>
          <p:nvPr/>
        </p:nvSpPr>
        <p:spPr>
          <a:xfrm>
            <a:off x="269568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Introduzione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"/>
          <p:cNvSpPr/>
          <p:nvPr/>
        </p:nvSpPr>
        <p:spPr>
          <a:xfrm>
            <a:off x="418500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Metodologia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"/>
          <p:cNvSpPr/>
          <p:nvPr/>
        </p:nvSpPr>
        <p:spPr>
          <a:xfrm>
            <a:off x="561780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it-IT" sz="1200" strike="noStrike" u="none">
                <a:solidFill>
                  <a:srgbClr val="127622"/>
                </a:solidFill>
                <a:effectLst/>
                <a:uFillTx/>
                <a:latin typeface="Inter Display"/>
                <a:ea typeface="DejaVu Sans"/>
              </a:rPr>
              <a:t>Risultati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"/>
          <p:cNvSpPr/>
          <p:nvPr/>
        </p:nvSpPr>
        <p:spPr>
          <a:xfrm>
            <a:off x="693684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RoadMap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1C13D08-D68B-4041-8F70-16B3B5DB528A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it-IT" sz="36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RQ1: Scelta del Modello</a:t>
            </a:r>
            <a:endParaRPr b="0" lang="it-IT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3032280" y="5766840"/>
            <a:ext cx="6535440" cy="36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anchorCtr="1">
            <a:norm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</a:rPr>
              <a:t>Distribuzioni AUC per NoSelection, separate per classificatore.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2" name="Immagine 4" descr="Immagine che contiene diagramma, schermata, testo, Rettangolo&#10;&#10;Il contenuto generato dall'IA potrebbe non essere corretto."/>
          <p:cNvPicPr/>
          <p:nvPr/>
        </p:nvPicPr>
        <p:blipFill>
          <a:blip r:embed="rId1"/>
          <a:stretch/>
        </p:blipFill>
        <p:spPr>
          <a:xfrm>
            <a:off x="979560" y="3114720"/>
            <a:ext cx="4743360" cy="2634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3" name="Immagine 6" descr="Immagine che contiene testo, schermata, schermo, diagramma&#10;&#10;Il contenuto generato dall'IA potrebbe non essere corretto."/>
          <p:cNvPicPr/>
          <p:nvPr/>
        </p:nvPicPr>
        <p:blipFill>
          <a:blip r:embed="rId2"/>
          <a:stretch/>
        </p:blipFill>
        <p:spPr>
          <a:xfrm>
            <a:off x="6331680" y="3066120"/>
            <a:ext cx="4860720" cy="269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" name="CasellaDiTesto 7"/>
          <p:cNvSpPr/>
          <p:nvPr/>
        </p:nvSpPr>
        <p:spPr>
          <a:xfrm>
            <a:off x="2283840" y="2759040"/>
            <a:ext cx="2590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Apache Bookkeeper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CasellaDiTesto 8"/>
          <p:cNvSpPr/>
          <p:nvPr/>
        </p:nvSpPr>
        <p:spPr>
          <a:xfrm>
            <a:off x="7219080" y="2735640"/>
            <a:ext cx="3327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Apache OpenJPA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09/02/2025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960480" y="1603800"/>
            <a:ext cx="10231920" cy="11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it-IT" sz="2400" strike="noStrike" u="none">
                <a:solidFill>
                  <a:srgbClr val="000000"/>
                </a:solidFill>
                <a:effectLst/>
                <a:uFillTx/>
                <a:latin typeface="Inter Display"/>
                <a:ea typeface="DejaVu Sans"/>
              </a:rPr>
              <a:t>Il modello </a:t>
            </a:r>
            <a:r>
              <a:rPr b="1" lang="it-IT" sz="2400" strike="noStrike" u="none">
                <a:solidFill>
                  <a:srgbClr val="000000"/>
                </a:solidFill>
                <a:effectLst/>
                <a:uFillTx/>
                <a:latin typeface="Inter Display"/>
                <a:ea typeface="DejaVu Sans"/>
              </a:rPr>
              <a:t>Random Forest (No Selection / No Sampling)</a:t>
            </a:r>
            <a:r>
              <a:rPr b="0" lang="it-IT" sz="2400" strike="noStrike" u="none">
                <a:solidFill>
                  <a:srgbClr val="000000"/>
                </a:solidFill>
                <a:effectLst/>
                <a:uFillTx/>
                <a:latin typeface="Inter Display"/>
                <a:ea typeface="DejaVu Sans"/>
              </a:rPr>
              <a:t> si conferma il più efficace e stabile per entrambi i casi di studio.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"/>
          <p:cNvSpPr/>
          <p:nvPr/>
        </p:nvSpPr>
        <p:spPr>
          <a:xfrm>
            <a:off x="269568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Introduzione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"/>
          <p:cNvSpPr/>
          <p:nvPr/>
        </p:nvSpPr>
        <p:spPr>
          <a:xfrm>
            <a:off x="418500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Metodologia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"/>
          <p:cNvSpPr/>
          <p:nvPr/>
        </p:nvSpPr>
        <p:spPr>
          <a:xfrm>
            <a:off x="561780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it-IT" sz="1200" strike="noStrike" u="none">
                <a:solidFill>
                  <a:srgbClr val="127622"/>
                </a:solidFill>
                <a:effectLst/>
                <a:uFillTx/>
                <a:latin typeface="Inter Display"/>
                <a:ea typeface="DejaVu Sans"/>
              </a:rPr>
              <a:t>Risultati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"/>
          <p:cNvSpPr/>
          <p:nvPr/>
        </p:nvSpPr>
        <p:spPr>
          <a:xfrm>
            <a:off x="693684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RoadMap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E4DC370B-5D99-42FA-B28A-05B501BBCF24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it-IT" sz="36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RQ2: Correlazione feature vs Bugginess</a:t>
            </a:r>
            <a:endParaRPr b="0" lang="it-IT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3" name="Immagine 6" descr="Immagine che contiene testo, Carattere, schermata, numero&#10;&#10;Il contenuto generato dall'IA potrebbe non essere corretto."/>
          <p:cNvPicPr/>
          <p:nvPr/>
        </p:nvPicPr>
        <p:blipFill>
          <a:blip r:embed="rId1"/>
          <a:stretch/>
        </p:blipFill>
        <p:spPr>
          <a:xfrm>
            <a:off x="8729640" y="1763640"/>
            <a:ext cx="1854000" cy="4726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4" name="Immagine 8" descr="Immagine che contiene testo, schermata, Carattere, documento&#10;&#10;Il contenuto generato dall'IA potrebbe non essere corretto."/>
          <p:cNvPicPr/>
          <p:nvPr/>
        </p:nvPicPr>
        <p:blipFill>
          <a:blip r:embed="rId2"/>
          <a:stretch/>
        </p:blipFill>
        <p:spPr>
          <a:xfrm>
            <a:off x="4864680" y="1794600"/>
            <a:ext cx="3348360" cy="469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5" name="CasellaDiTesto 9"/>
          <p:cNvSpPr/>
          <p:nvPr/>
        </p:nvSpPr>
        <p:spPr>
          <a:xfrm>
            <a:off x="5569560" y="1491480"/>
            <a:ext cx="1788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Apache Bookkeeper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CasellaDiTesto 10"/>
          <p:cNvSpPr/>
          <p:nvPr/>
        </p:nvSpPr>
        <p:spPr>
          <a:xfrm>
            <a:off x="8826480" y="1460520"/>
            <a:ext cx="1681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Apache OpenJPA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2"/>
          <p:cNvSpPr>
            <a:spLocks noGrp="1"/>
          </p:cNvSpPr>
          <p:nvPr>
            <p:ph type="dt" idx="58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09/02/2025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870840" y="2312280"/>
            <a:ext cx="3629520" cy="280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it-IT" sz="2400" strike="noStrike" u="none">
                <a:solidFill>
                  <a:srgbClr val="000000"/>
                </a:solidFill>
                <a:effectLst/>
                <a:uFillTx/>
                <a:latin typeface="Inter Display"/>
                <a:ea typeface="DejaVu Sans"/>
              </a:rPr>
              <a:t>In entrambi i casi studio, la </a:t>
            </a:r>
            <a:r>
              <a:rPr b="1" lang="it-IT" sz="2400" strike="noStrike" u="none">
                <a:solidFill>
                  <a:srgbClr val="000000"/>
                </a:solidFill>
                <a:effectLst/>
                <a:uFillTx/>
                <a:latin typeface="Inter Display"/>
                <a:ea typeface="DejaVu Sans"/>
              </a:rPr>
              <a:t>LOC</a:t>
            </a:r>
            <a:r>
              <a:rPr b="0" lang="it-IT" sz="2400" strike="noStrike" u="none">
                <a:solidFill>
                  <a:srgbClr val="000000"/>
                </a:solidFill>
                <a:effectLst/>
                <a:uFillTx/>
                <a:latin typeface="Inter Display"/>
                <a:ea typeface="DejaVu Sans"/>
              </a:rPr>
              <a:t> (Lines of Code) si conferma la metrica azionabile con la più alta correlazione alla bugginess.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"/>
          <p:cNvSpPr/>
          <p:nvPr/>
        </p:nvSpPr>
        <p:spPr>
          <a:xfrm>
            <a:off x="269568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Introduzione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"/>
          <p:cNvSpPr/>
          <p:nvPr/>
        </p:nvSpPr>
        <p:spPr>
          <a:xfrm>
            <a:off x="418500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Metodologia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"/>
          <p:cNvSpPr/>
          <p:nvPr/>
        </p:nvSpPr>
        <p:spPr>
          <a:xfrm>
            <a:off x="561780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it-IT" sz="1200" strike="noStrike" u="none">
                <a:solidFill>
                  <a:srgbClr val="127622"/>
                </a:solidFill>
                <a:effectLst/>
                <a:uFillTx/>
                <a:latin typeface="Inter Display"/>
                <a:ea typeface="DejaVu Sans"/>
              </a:rPr>
              <a:t>Risultati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"/>
          <p:cNvSpPr/>
          <p:nvPr/>
        </p:nvSpPr>
        <p:spPr>
          <a:xfrm>
            <a:off x="693684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RoadMap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C623F42-B2E1-4ABB-9257-11E2EAA0A422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it-IT" sz="36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RQ2: Efficacia del Refactoring Bookkeeper</a:t>
            </a:r>
            <a:endParaRPr b="0" lang="it-IT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PlaceHolder 2"/>
          <p:cNvSpPr>
            <a:spLocks noGrp="1"/>
          </p:cNvSpPr>
          <p:nvPr>
            <p:ph/>
          </p:nvPr>
        </p:nvSpPr>
        <p:spPr>
          <a:xfrm>
            <a:off x="519480" y="1690200"/>
            <a:ext cx="5356440" cy="442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Intervento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 Decomposizione tramite pattern Extract Method</a:t>
            </a: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 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(144 LOC -&gt; 5 metodi).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Risultato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 Il modello ha invertito la predizione da BUGGY a CLEAN per tutti i nuovi metodi.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Driver del cambiamento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 L’abbattimento drastico della comlessità ciclomatica (da 16 a 3) e dei Code Smells (da 17 a 3) insieme alla LOC hanno neutralizzato l’effetto negativo del Churn elevato dovuto alla risutrutturazione.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5" name="Immagine 6" descr="Immagine che contiene testo, schermata, numero, Carattere&#10;&#10;Il contenuto generato dall'IA potrebbe non essere corretto."/>
          <p:cNvPicPr/>
          <p:nvPr/>
        </p:nvPicPr>
        <p:blipFill>
          <a:blip r:embed="rId1"/>
          <a:stretch/>
        </p:blipFill>
        <p:spPr>
          <a:xfrm>
            <a:off x="5978520" y="2404800"/>
            <a:ext cx="5568120" cy="2552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6" name="CasellaDiTesto 10"/>
          <p:cNvSpPr/>
          <p:nvPr/>
        </p:nvSpPr>
        <p:spPr>
          <a:xfrm>
            <a:off x="6127920" y="5073840"/>
            <a:ext cx="60624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it-IT" sz="1400" strike="noStrike" u="none">
                <a:solidFill>
                  <a:schemeClr val="dk1"/>
                </a:solidFill>
                <a:effectLst/>
                <a:uFillTx/>
                <a:latin typeface="Source Code Pro"/>
                <a:ea typeface="DejaVu Sans"/>
              </a:rPr>
              <a:t>org.apache.bookkeeper.benchmark.BenchThroughpu tLatency.main(String[]) 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dt" idx="59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09/02/2025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6186960" y="2076120"/>
            <a:ext cx="521712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Tabella sintetica con alcune delle metriche principali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"/>
          <p:cNvSpPr/>
          <p:nvPr/>
        </p:nvSpPr>
        <p:spPr>
          <a:xfrm>
            <a:off x="269568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Introduzione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"/>
          <p:cNvSpPr/>
          <p:nvPr/>
        </p:nvSpPr>
        <p:spPr>
          <a:xfrm>
            <a:off x="418500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Metodologia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"/>
          <p:cNvSpPr/>
          <p:nvPr/>
        </p:nvSpPr>
        <p:spPr>
          <a:xfrm>
            <a:off x="561780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it-IT" sz="1200" strike="noStrike" u="none">
                <a:solidFill>
                  <a:srgbClr val="127622"/>
                </a:solidFill>
                <a:effectLst/>
                <a:uFillTx/>
                <a:latin typeface="Inter Display"/>
                <a:ea typeface="DejaVu Sans"/>
              </a:rPr>
              <a:t>Risultati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"/>
          <p:cNvSpPr/>
          <p:nvPr/>
        </p:nvSpPr>
        <p:spPr>
          <a:xfrm>
            <a:off x="693684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RoadMap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C5FA9BE2-51F9-4C35-8DB6-DAC96C94B965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it-IT" sz="36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RQ2: Efficacia del Refactoring OpenJPA</a:t>
            </a:r>
            <a:endParaRPr b="0" lang="it-IT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635040" y="1734120"/>
            <a:ext cx="5412240" cy="467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Intervento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 Refactoring tramite pattern Extract Method  (185 LOC -&gt; 15 metodi).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Risultato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 Compartimentazione del problema. 14 metodi su 15 sono diventati CLEAN, ma il metodo core è rimasto classificato come BUGGY.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Analisi del limite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 Nonostante la pulizia del codice (LOC e Complessità ridotte), la turbolenza storica (Global Churn) e il volume di codice cancellato (Deleted) hanno mantenuto alta l’allerta del modelo, dimostrando che il rischio non dipende solo dalla forma attuale del codice ma anche dalla sua storia.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5" name="Immagine 4" descr="Immagine che contiene testo, schermata, numero, Carattere&#10;&#10;Il contenuto generato dall'IA potrebbe non essere corretto."/>
          <p:cNvPicPr/>
          <p:nvPr/>
        </p:nvPicPr>
        <p:blipFill>
          <a:blip r:embed="rId1"/>
          <a:stretch/>
        </p:blipFill>
        <p:spPr>
          <a:xfrm>
            <a:off x="6095880" y="2532240"/>
            <a:ext cx="5754960" cy="2639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6" name="CasellaDiTesto 5"/>
          <p:cNvSpPr/>
          <p:nvPr/>
        </p:nvSpPr>
        <p:spPr>
          <a:xfrm>
            <a:off x="6382440" y="5173200"/>
            <a:ext cx="525276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it-IT" sz="1400" strike="noStrike" u="none">
                <a:solidFill>
                  <a:schemeClr val="dk1"/>
                </a:solidFill>
                <a:effectLst/>
                <a:uFillTx/>
                <a:latin typeface="Source Code Pro"/>
                <a:ea typeface="DejaVu Sans"/>
              </a:rPr>
              <a:t>org.apache.openjpa.persistence.jdbc. AnnotationPersistenceMappingParser.parseMember MappingAnnotations(FieldMetaData)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09/02/2025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6186960" y="2226960"/>
            <a:ext cx="521712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Tabella sintetica con alcune delle metriche principali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"/>
          <p:cNvSpPr/>
          <p:nvPr/>
        </p:nvSpPr>
        <p:spPr>
          <a:xfrm>
            <a:off x="269568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Introduzione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"/>
          <p:cNvSpPr/>
          <p:nvPr/>
        </p:nvSpPr>
        <p:spPr>
          <a:xfrm>
            <a:off x="418500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Metodologia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"/>
          <p:cNvSpPr/>
          <p:nvPr/>
        </p:nvSpPr>
        <p:spPr>
          <a:xfrm>
            <a:off x="561780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it-IT" sz="1200" strike="noStrike" u="none">
                <a:solidFill>
                  <a:srgbClr val="127622"/>
                </a:solidFill>
                <a:effectLst/>
                <a:uFillTx/>
                <a:latin typeface="Inter Display"/>
                <a:ea typeface="DejaVu Sans"/>
              </a:rPr>
              <a:t>Risultati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"/>
          <p:cNvSpPr/>
          <p:nvPr/>
        </p:nvSpPr>
        <p:spPr>
          <a:xfrm>
            <a:off x="693684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RoadMap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18BCE71-96D0-4DFD-8704-D3378DA4D5A5}" type="slidenum">
              <a:t>19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it-IT" sz="36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RQ3 What-If Analysis No Smells</a:t>
            </a:r>
            <a:endParaRPr b="0" lang="it-IT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2"/>
          <p:cNvSpPr>
            <a:spLocks noGrp="1"/>
          </p:cNvSpPr>
          <p:nvPr>
            <p:ph/>
          </p:nvPr>
        </p:nvSpPr>
        <p:spPr>
          <a:xfrm>
            <a:off x="838080" y="1873800"/>
            <a:ext cx="10589760" cy="92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La rimozione dei Code Smell porta a una riduzione media della probabilità di bug del </a:t>
            </a: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29%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5" name="Immagine 4" descr="Immagine che contiene testo, schermata, Carattere, numero&#10;&#10;Il contenuto generato dall'IA potrebbe non essere corretto."/>
          <p:cNvPicPr/>
          <p:nvPr/>
        </p:nvPicPr>
        <p:blipFill>
          <a:blip r:embed="rId1"/>
          <a:srcRect l="0" t="1970" r="0" b="0"/>
          <a:stretch/>
        </p:blipFill>
        <p:spPr>
          <a:xfrm>
            <a:off x="968040" y="3643560"/>
            <a:ext cx="4885560" cy="111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6" name="Immagine 6" descr="Immagine che contiene testo, schermata, Carattere, numero&#10;&#10;Il contenuto generato dall'IA potrebbe non essere corretto."/>
          <p:cNvPicPr/>
          <p:nvPr/>
        </p:nvPicPr>
        <p:blipFill>
          <a:blip r:embed="rId2"/>
          <a:srcRect l="0" t="1443" r="0" b="0"/>
          <a:stretch/>
        </p:blipFill>
        <p:spPr>
          <a:xfrm>
            <a:off x="6726240" y="3643560"/>
            <a:ext cx="4701600" cy="108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7" name="CasellaDiTesto 7"/>
          <p:cNvSpPr/>
          <p:nvPr/>
        </p:nvSpPr>
        <p:spPr>
          <a:xfrm>
            <a:off x="968040" y="4980960"/>
            <a:ext cx="4684680" cy="10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15000"/>
              </a:lnSpc>
            </a:pPr>
            <a:r>
              <a:rPr b="1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804</a:t>
            </a: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 metodi riclassificati da Buggy a Clean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Riduzione della probabilità del </a:t>
            </a:r>
            <a:r>
              <a:rPr b="1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29,18%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Riduzione del rischio globale del </a:t>
            </a:r>
            <a:r>
              <a:rPr b="1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11,84%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CasellaDiTesto 8"/>
          <p:cNvSpPr/>
          <p:nvPr/>
        </p:nvSpPr>
        <p:spPr>
          <a:xfrm>
            <a:off x="6726240" y="4980960"/>
            <a:ext cx="4684680" cy="10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15000"/>
              </a:lnSpc>
            </a:pPr>
            <a:r>
              <a:rPr b="1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7056</a:t>
            </a: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 metodi riclassificati da </a:t>
            </a:r>
            <a:r>
              <a:rPr b="0" i="1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Buggy</a:t>
            </a: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 a </a:t>
            </a:r>
            <a:r>
              <a:rPr b="0" i="1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Clean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Riduzione della probabilità del </a:t>
            </a:r>
            <a:r>
              <a:rPr b="1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28,51%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Riduzione del rischio globale del </a:t>
            </a:r>
            <a:r>
              <a:rPr b="1" lang="it-IT" sz="1800" strike="noStrike" u="none">
                <a:solidFill>
                  <a:schemeClr val="dk1"/>
                </a:solidFill>
                <a:effectLst/>
                <a:uFillTx/>
                <a:latin typeface="Inter Display"/>
                <a:ea typeface="DejaVu Sans"/>
              </a:rPr>
              <a:t>13,16%</a:t>
            </a: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CasellaDiTesto 9"/>
          <p:cNvSpPr/>
          <p:nvPr/>
        </p:nvSpPr>
        <p:spPr>
          <a:xfrm>
            <a:off x="2035080" y="3339720"/>
            <a:ext cx="2475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Aptos"/>
                <a:ea typeface="DejaVu Sans"/>
              </a:rPr>
              <a:t>Apache Bookkeeper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CasellaDiTesto 10"/>
          <p:cNvSpPr/>
          <p:nvPr/>
        </p:nvSpPr>
        <p:spPr>
          <a:xfrm>
            <a:off x="7977240" y="3339720"/>
            <a:ext cx="2199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it-IT" sz="1400" strike="noStrike" u="none">
                <a:solidFill>
                  <a:srgbClr val="666666"/>
                </a:solidFill>
                <a:effectLst/>
                <a:uFillTx/>
                <a:latin typeface="Inter Display"/>
                <a:ea typeface="DejaVu Sans"/>
              </a:rPr>
              <a:t>Apache OpenJPA</a:t>
            </a:r>
            <a:endParaRPr b="0" lang="it-I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dt" idx="61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09/02/2025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269568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Introduzione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"/>
          <p:cNvSpPr/>
          <p:nvPr/>
        </p:nvSpPr>
        <p:spPr>
          <a:xfrm>
            <a:off x="418500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Metodologia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"/>
          <p:cNvSpPr/>
          <p:nvPr/>
        </p:nvSpPr>
        <p:spPr>
          <a:xfrm>
            <a:off x="561780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it-IT" sz="1200" strike="noStrike" u="none">
                <a:solidFill>
                  <a:srgbClr val="127622"/>
                </a:solidFill>
                <a:effectLst/>
                <a:uFillTx/>
                <a:latin typeface="Inter Display"/>
                <a:ea typeface="DejaVu Sans"/>
              </a:rPr>
              <a:t>Risultati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"/>
          <p:cNvSpPr/>
          <p:nvPr/>
        </p:nvSpPr>
        <p:spPr>
          <a:xfrm>
            <a:off x="693684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RoadMap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E89008D-4B7C-4C50-A311-DEB34F1E2DC8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it-IT" sz="36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Minacce alla validità</a:t>
            </a:r>
            <a:endParaRPr b="0" lang="it-IT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Validità Interna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L’algoritmo Proportion è un algoritmo euristico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Lo strumento di analisi statica PMD presenta un margine di errore intrinseco (5-10%)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I dati e il labeling sono condizionati dalla qualità del tracciamento in Jira. 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Validità Esterna</a:t>
            </a: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Lo studio si concentra su due progetti dell’ecosistema Apache. I risultati potrebbero variare in contesti industriali differenti.</a:t>
            </a:r>
            <a:endParaRPr b="0" lang="it-I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dt" idx="62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09/02/2025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269568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Introduzione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"/>
          <p:cNvSpPr/>
          <p:nvPr/>
        </p:nvSpPr>
        <p:spPr>
          <a:xfrm>
            <a:off x="418500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Metodologia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"/>
          <p:cNvSpPr/>
          <p:nvPr/>
        </p:nvSpPr>
        <p:spPr>
          <a:xfrm>
            <a:off x="561780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it-IT" sz="1200" strike="noStrike" u="none">
                <a:solidFill>
                  <a:srgbClr val="127622"/>
                </a:solidFill>
                <a:effectLst/>
                <a:uFillTx/>
                <a:latin typeface="Inter Display"/>
                <a:ea typeface="DejaVu Sans"/>
              </a:rPr>
              <a:t>Risultati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"/>
          <p:cNvSpPr/>
          <p:nvPr/>
        </p:nvSpPr>
        <p:spPr>
          <a:xfrm>
            <a:off x="693684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RoadMap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D56373AF-A556-4F80-9332-1246AB63BB99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it-IT" sz="36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Lavori Futuri</a:t>
            </a:r>
            <a:endParaRPr b="0" lang="it-IT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19999"/>
          </a:bodyPr>
          <a:p>
            <a:pPr marL="228600" indent="-228600" defTabSz="914400">
              <a:lnSpc>
                <a:spcPct val="11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1" lang="it-IT" sz="22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Analisi Longitudinale Post-Refactoring</a:t>
            </a:r>
            <a:r>
              <a:rPr b="0" lang="it-IT" sz="22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 </a:t>
            </a:r>
            <a:br>
              <a:rPr sz="2200"/>
            </a:br>
            <a:r>
              <a:rPr b="0" lang="it-IT" sz="22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Monitorare l'evoluzione temporale dei metodi rifattorizzati per determinare il "tempo di assestamento" in cui il beneficio strutturale prevale sul rischio iniziale di churn.</a:t>
            </a:r>
            <a:endParaRPr b="0" lang="it-IT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1" lang="it-IT" sz="22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Integrazione nel processo di Sviluppo (CI/CD)</a:t>
            </a:r>
            <a:r>
              <a:rPr b="0" lang="it-IT" sz="22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</a:t>
            </a:r>
            <a:br>
              <a:rPr sz="2200"/>
            </a:br>
            <a:r>
              <a:rPr b="0" lang="it-IT" sz="22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Implementare il modello Random Forest nelle pipeline di Continuous Integration per fornire agli sviluppatori feedback in tempo reale sull'impatto delle modifiche strutturali.</a:t>
            </a:r>
            <a:endParaRPr b="0" lang="it-IT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1" lang="it-IT" sz="22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Estensione della Validità Esterna</a:t>
            </a:r>
            <a:r>
              <a:rPr b="0" lang="it-IT" sz="22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</a:t>
            </a:r>
            <a:br>
              <a:rPr sz="2200"/>
            </a:br>
            <a:r>
              <a:rPr b="0" lang="it-IT" sz="22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Replicare lo studio su un corpus eterogeneo di progetti software, estendendo l'analisi a sistemi scritti in linguaggi di programmazione diversi da Java.</a:t>
            </a:r>
            <a:endParaRPr b="0" lang="it-IT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1" lang="it-IT" sz="22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Labeling Assistito da ML</a:t>
            </a:r>
            <a:r>
              <a:rPr b="0" lang="it-IT" sz="22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:</a:t>
            </a:r>
            <a:br>
              <a:rPr sz="2200"/>
            </a:br>
            <a:r>
              <a:rPr b="0" lang="it-IT" sz="22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Utilizzare tecniche di </a:t>
            </a:r>
            <a:r>
              <a:rPr b="0" i="1" lang="it-IT" sz="22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Natural Language Processing</a:t>
            </a:r>
            <a:r>
              <a:rPr b="0" lang="it-IT" sz="2200" strike="noStrike" u="none">
                <a:solidFill>
                  <a:schemeClr val="dk1"/>
                </a:solidFill>
                <a:effectLst/>
                <a:uFillTx/>
                <a:latin typeface="Inter Display"/>
              </a:rPr>
              <a:t> per analizzare semanticamente commit e ticket, migliorando la precisione dell'algoritmo Proportion nell'identificare la versione di iniezione dei bug.</a:t>
            </a:r>
            <a:endParaRPr b="0" lang="it-IT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it-I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it-I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PlaceHolder 3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09/02/2025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269568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Introduzione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"/>
          <p:cNvSpPr/>
          <p:nvPr/>
        </p:nvSpPr>
        <p:spPr>
          <a:xfrm>
            <a:off x="418500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Metodologia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"/>
          <p:cNvSpPr/>
          <p:nvPr/>
        </p:nvSpPr>
        <p:spPr>
          <a:xfrm>
            <a:off x="561780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it-IT" sz="1200" strike="noStrike" u="none">
                <a:solidFill>
                  <a:srgbClr val="999999"/>
                </a:solidFill>
                <a:effectLst/>
                <a:uFillTx/>
                <a:latin typeface="Inter Display"/>
                <a:ea typeface="DejaVu Sans"/>
              </a:rPr>
              <a:t>Risultati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"/>
          <p:cNvSpPr/>
          <p:nvPr/>
        </p:nvSpPr>
        <p:spPr>
          <a:xfrm>
            <a:off x="6936840" y="146520"/>
            <a:ext cx="198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it-IT" sz="1200" strike="noStrike" u="none">
                <a:solidFill>
                  <a:srgbClr val="127622"/>
                </a:solidFill>
                <a:effectLst/>
                <a:uFillTx/>
                <a:latin typeface="Inter Display"/>
                <a:ea typeface="DejaVu Sans"/>
              </a:rPr>
              <a:t>RoadMap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F8E0B1C-1D7D-4F1F-90A9-7AF9A204A576}" type="slidenum">
              <a:t>22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buNone/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it-I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Rettangolo 3"/>
          <p:cNvSpPr/>
          <p:nvPr/>
        </p:nvSpPr>
        <p:spPr>
          <a:xfrm>
            <a:off x="0" y="0"/>
            <a:ext cx="12189960" cy="6855840"/>
          </a:xfrm>
          <a:prstGeom prst="rect">
            <a:avLst/>
          </a:prstGeom>
          <a:solidFill>
            <a:srgbClr val="007d34"/>
          </a:solidFill>
          <a:ln w="19080">
            <a:solidFill>
              <a:srgbClr val="007c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33" name="Immagine 4" descr="Immagine che contiene testo, logo&#10;&#10;Descrizione generata automaticamente"/>
          <p:cNvPicPr/>
          <p:nvPr/>
        </p:nvPicPr>
        <p:blipFill>
          <a:blip r:embed="rId1"/>
          <a:stretch/>
        </p:blipFill>
        <p:spPr>
          <a:xfrm>
            <a:off x="2332800" y="2532600"/>
            <a:ext cx="7524360" cy="179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4" name="PlaceHolder 3"/>
          <p:cNvSpPr>
            <a:spLocks noGrp="1"/>
          </p:cNvSpPr>
          <p:nvPr>
            <p:ph type="dt" idx="64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09/02/2025</a:t>
            </a:r>
            <a:endParaRPr b="0" lang="it-I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C88713D-CF74-43FB-A346-E8D57CF9A48D}" type="slidenum">
              <a:t>23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i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i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Tema di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Tema di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Tema di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Tema di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721</TotalTime>
  <Application>LibreOffice/25.2.7.2$Linux_X86_64 LibreOffice_project/520$Build-2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2026-02-06T17:26:10Z</dcterms:created>
  <dc:creator>flavio simonelli</dc:creator>
  <dc:description/>
  <dc:language>it-IT</dc:language>
  <cp:lastModifiedBy/>
  <dcterms:modified xsi:type="dcterms:W3CDTF">2026-02-08T19:33:37Z</dcterms:modified>
  <cp:revision>15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</vt:r8>
  </property>
  <property fmtid="{D5CDD505-2E9C-101B-9397-08002B2CF9AE}" pid="3" name="PresentationFormat">
    <vt:lpwstr>Widescreen</vt:lpwstr>
  </property>
  <property fmtid="{D5CDD505-2E9C-101B-9397-08002B2CF9AE}" pid="4" name="Slides">
    <vt:r8>22</vt:r8>
  </property>
</Properties>
</file>